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01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613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FFFFFF"/>
                </a:solidFill>
              </a:rPr>
              <a:t>材料查询比价分析系统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1591465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1677FF"/>
                </a:solidFill>
              </a:rPr>
              <a:t>功能</a:t>
            </a:r>
            <a:r>
              <a:rPr lang="zh-CN" altLang="en-US" sz="2200" dirty="0">
                <a:solidFill>
                  <a:srgbClr val="1677FF"/>
                </a:solidFill>
              </a:rPr>
              <a:t>原型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87763" y="2166021"/>
            <a:ext cx="27432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77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129"/>
                </a:solidFill>
              </a:rPr>
              <a:t>系统概述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5969"/>
                </a:solidFill>
              </a:rPr>
              <a:t>覆盖 物料标准化 → 供应商管理 → 智能邀标 → 横向比价 → 历史追溯 全链条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4340" y="1417320"/>
            <a:ext cx="1508760" cy="10058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4340" y="1417320"/>
            <a:ext cx="1508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77FF"/>
                </a:solidFill>
              </a:rPr>
              <a:t>11,983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434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09C"/>
                </a:solidFill>
              </a:rPr>
              <a:t>物料标准库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5980" y="1417320"/>
            <a:ext cx="1508760" cy="10058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25980" y="1417320"/>
            <a:ext cx="1508760" cy="4572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1" name="Text 9"/>
          <p:cNvSpPr/>
          <p:nvPr/>
        </p:nvSpPr>
        <p:spPr>
          <a:xfrm>
            <a:off x="212598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C41A"/>
                </a:solidFill>
              </a:rPr>
              <a:t>57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2598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09C"/>
                </a:solidFill>
              </a:rPr>
              <a:t>供应商档案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17620" y="1417320"/>
            <a:ext cx="1508760" cy="10058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7620" y="1417320"/>
            <a:ext cx="1508760" cy="4572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5" name="Text 13"/>
          <p:cNvSpPr/>
          <p:nvPr/>
        </p:nvSpPr>
        <p:spPr>
          <a:xfrm>
            <a:off x="381762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A8C16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1762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09C"/>
                </a:solidFill>
              </a:rPr>
              <a:t>覆盖专业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09260" y="1417320"/>
            <a:ext cx="1508760" cy="10058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09260" y="1417320"/>
            <a:ext cx="1508760" cy="45720"/>
          </a:xfrm>
          <a:prstGeom prst="rect">
            <a:avLst/>
          </a:prstGeom>
          <a:solidFill>
            <a:srgbClr val="FF4D4F"/>
          </a:solidFill>
          <a:ln/>
        </p:spPr>
      </p:sp>
      <p:sp>
        <p:nvSpPr>
          <p:cNvPr id="19" name="Text 17"/>
          <p:cNvSpPr/>
          <p:nvPr/>
        </p:nvSpPr>
        <p:spPr>
          <a:xfrm>
            <a:off x="550926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D4F"/>
                </a:solidFill>
              </a:rPr>
              <a:t>10+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50926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09C"/>
                </a:solidFill>
              </a:rPr>
              <a:t>覆盖品类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00900" y="1417320"/>
            <a:ext cx="1508760" cy="10058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0900" y="1417320"/>
            <a:ext cx="1508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0090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77FF"/>
                </a:solidFill>
              </a:rPr>
              <a:t>11,983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20090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09C"/>
                </a:solidFill>
              </a:rPr>
              <a:t>历史报价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27432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5969"/>
                </a:solidFill>
              </a:rPr>
              <a:t>AI 驱动：Qwen-VL OCR + 3 级 fallback 智能抽取引擎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5969"/>
                </a:solidFill>
              </a:rPr>
              <a:t>五维评分：价格竞争力 / 历史合作 / 报价完整度 / 品牌合规 / 商务条款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5969"/>
                </a:solidFill>
              </a:rPr>
              <a:t>横向比价矩阵：多供应商同屏对比，色标告警一目了然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5969"/>
                </a:solidFill>
              </a:rPr>
              <a:t>全链条导出：6 个模块均支持一键导出 Excel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1. 系统入口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0" y="822960"/>
            <a:ext cx="6949440" cy="3236976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09C"/>
                </a:solidFill>
              </a:rPr>
              <a:t>账号密码登录  |  支持"记住密码"  |  上海建工一建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2. 仪表盘 — 全局概览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6909C"/>
                </a:solidFill>
              </a:rPr>
              <a:t>工作台 / 仪表盘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31520"/>
            <a:ext cx="5029200" cy="2340864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669280" y="777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四大核心指标卡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1188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累计入库材料 11,983 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本月比价次数 11,983 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偏差预警 3 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覆盖 3 专业 / 342 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品类全景热力图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矩形面积 = 数据量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桥架、配电箱数据最厚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支持气泡图切换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3246120"/>
            <a:ext cx="5029200" cy="1554480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3. 物料主数据 — 标准化底座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6909C"/>
                </a:solidFill>
              </a:rPr>
              <a:t>数据管理 / 物料主数据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31520"/>
            <a:ext cx="5486400" cy="2560320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03504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分类树 + 明细表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1887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三级专业分类（电气/给排水/暖通）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物料编码、标准名称、规格材质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推荐品牌、参考价格区间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AI 名称标准化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一键导出 Excel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611880"/>
          <a:ext cx="7680960" cy="1051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专业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品类数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主要品类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电气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6,620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桥架 2049 / 配电箱 4433 / 母线槽 138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给排水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2,125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阀门 914 / 潜水泵 617 / 不锈钢管 580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暖通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3,238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风口风阀 3100 / 风机盘管 92 / 空调泵 46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4. 供应商管理 — 五维评分体系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6909C"/>
                </a:solidFill>
              </a:rPr>
              <a:t>数据管理 / 供应商管理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31520"/>
            <a:ext cx="5303520" cy="2468880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852160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五维评分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188720"/>
            <a:ext cx="237744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0" y="1188720"/>
            <a:ext cx="950976" cy="20116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2129"/>
                </a:solidFill>
              </a:rPr>
              <a:t>价格竞争力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66760" y="11704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77FF"/>
                </a:solidFill>
              </a:rPr>
              <a:t>40%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1536192"/>
            <a:ext cx="237744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0" y="1536192"/>
            <a:ext cx="475488" cy="20116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15179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2129"/>
                </a:solidFill>
              </a:rPr>
              <a:t>历史合作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366760" y="15179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77FF"/>
                </a:solidFill>
              </a:rPr>
              <a:t>20%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1883664"/>
            <a:ext cx="237744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Shape 13"/>
          <p:cNvSpPr/>
          <p:nvPr/>
        </p:nvSpPr>
        <p:spPr>
          <a:xfrm>
            <a:off x="5943600" y="1883664"/>
            <a:ext cx="356616" cy="20116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18653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2129"/>
                </a:solidFill>
              </a:rPr>
              <a:t>报价完整度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66760" y="1865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77FF"/>
                </a:solidFill>
              </a:rPr>
              <a:t>15%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2231136"/>
            <a:ext cx="237744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0" y="2231136"/>
            <a:ext cx="356616" cy="20116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22128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2129"/>
                </a:solidFill>
              </a:rPr>
              <a:t>品牌合规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366760" y="2212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77FF"/>
                </a:solidFill>
              </a:rPr>
              <a:t>15%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43600" y="2578608"/>
            <a:ext cx="237744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Shape 21"/>
          <p:cNvSpPr/>
          <p:nvPr/>
        </p:nvSpPr>
        <p:spPr>
          <a:xfrm>
            <a:off x="5943600" y="2578608"/>
            <a:ext cx="237744" cy="20116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5" name="Text 22"/>
          <p:cNvSpPr/>
          <p:nvPr/>
        </p:nvSpPr>
        <p:spPr>
          <a:xfrm>
            <a:off x="5852160" y="25603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2129"/>
                </a:solidFill>
              </a:rPr>
              <a:t>商务条款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366760" y="2560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77FF"/>
                </a:solidFill>
              </a:rPr>
              <a:t>10%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供应商画像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31520" y="3886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AI 五维评分雷达图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历史合作时间线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供应品类分布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批量导入/导出名单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77FF"/>
                </a:solidFill>
              </a:rPr>
              <a:t>57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54864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909C"/>
                </a:solidFill>
              </a:rPr>
              <a:t>供应商总数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13232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77FF"/>
                </a:solidFill>
              </a:rPr>
              <a:t>17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71323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909C"/>
                </a:solidFill>
              </a:rPr>
              <a:t>高频合作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5. 招标比价分析 — 核心功能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6909C"/>
                </a:solidFill>
              </a:rPr>
              <a:t>业务功能 / 招标比价分析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731520"/>
            <a:ext cx="365760" cy="36576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115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C41A"/>
                </a:solidFill>
              </a:rPr>
              <a:t>配置任务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914400"/>
            <a:ext cx="210312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731520"/>
            <a:ext cx="365760" cy="36576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115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C41A"/>
                </a:solidFill>
              </a:rPr>
              <a:t>录入报价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914400"/>
            <a:ext cx="210312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731520"/>
            <a:ext cx="365760" cy="365760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115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77FF"/>
                </a:solidFill>
              </a:rPr>
              <a:t>比价结果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554480"/>
            <a:ext cx="5029200" cy="2340864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566928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配置内容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669280" y="1920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项目（可选，不选则跨项目比价）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品类（必选，桥架/母线槽/配电箱…）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参与供应商（可多选）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报价录入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669280" y="3337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上传 PDF/图片 → AI OCR 自动识别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或直接使用历史数据跳过上传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横向比价矩阵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677FF"/>
                </a:solidFill>
              </a:rPr>
              <a:t>⭐ 核心价值展示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31520"/>
            <a:ext cx="8595360" cy="4005072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3 供应商同屏对比  |  色标告警（绿/黄/红）  |  AI 推荐  |  虚拟滚动 500+ 行  |  一键导出 Excel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比价矩阵 — 详解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矩阵结构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3931920" cy="1813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材料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物料名称 + 规格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历史均价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所有历史报价的均值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合理史低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剔除异常后的历史最低价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A/B/C 供应商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各供应商报价 + 偏差率 + 告警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最低偏差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最优供应商的偏差百分比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推荐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AI 综合推荐的供应商代号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色标告警系统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0" y="1143000"/>
            <a:ext cx="3657600" cy="502920"/>
          </a:xfrm>
          <a:prstGeom prst="rect">
            <a:avLst/>
          </a:prstGeom>
          <a:solidFill>
            <a:srgbClr val="F6FFED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0" y="1143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C41A"/>
                </a:solidFill>
              </a:rPr>
              <a:t>● 正常</a:t>
            </a:r>
            <a:r>
              <a:rPr lang="en-US" sz="1100" dirty="0">
                <a:solidFill>
                  <a:srgbClr val="4E5969"/>
                </a:solidFill>
              </a:rPr>
              <a:t>  偏差 ≤ 黄色阈值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0" y="1737360"/>
            <a:ext cx="3657600" cy="502920"/>
          </a:xfrm>
          <a:prstGeom prst="rect">
            <a:avLst/>
          </a:prstGeom>
          <a:solidFill>
            <a:srgbClr val="FFFBE6"/>
          </a:solidFill>
          <a:ln/>
        </p:spPr>
      </p:sp>
      <p:sp>
        <p:nvSpPr>
          <p:cNvPr id="5" name="Text 7"/>
          <p:cNvSpPr/>
          <p:nvPr/>
        </p:nvSpPr>
        <p:spPr>
          <a:xfrm>
            <a:off x="5120640" y="1737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8C16"/>
                </a:solidFill>
              </a:rPr>
              <a:t>● 需关注</a:t>
            </a:r>
            <a:r>
              <a:rPr lang="en-US" sz="1100" dirty="0">
                <a:solidFill>
                  <a:srgbClr val="4E5969"/>
                </a:solidFill>
              </a:rPr>
              <a:t>  黄色 &lt; 偏差 ≤ 红色阈值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2331720"/>
            <a:ext cx="3657600" cy="502920"/>
          </a:xfrm>
          <a:prstGeom prst="rect">
            <a:avLst/>
          </a:prstGeom>
          <a:solidFill>
            <a:srgbClr val="FFF2F0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331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4F"/>
                </a:solidFill>
              </a:rPr>
              <a:t>● 异常</a:t>
            </a:r>
            <a:r>
              <a:rPr lang="en-US" sz="1100" dirty="0">
                <a:solidFill>
                  <a:srgbClr val="4E5969"/>
                </a:solidFill>
              </a:rPr>
              <a:t>  偏差 &gt; 红色阈值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汇总信息栏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909C"/>
                </a:solidFill>
              </a:rPr>
              <a:t>品类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4630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母线槽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909C"/>
                </a:solidFill>
              </a:rPr>
              <a:t>物料数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976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556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909C"/>
                </a:solidFill>
              </a:rPr>
              <a:t>供应商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323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3 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909C"/>
                </a:solidFill>
              </a:rPr>
              <a:t>推荐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4630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靖江启达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38328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909C"/>
                </a:solidFill>
              </a:rPr>
              <a:t>最优总价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2976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¥4,113,882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1792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909C"/>
                </a:solidFill>
              </a:rPr>
              <a:t>异常项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1323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536 项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937760" y="3200400"/>
            <a:ext cx="3657600" cy="1371600"/>
          </a:xfrm>
          <a:prstGeom prst="rect">
            <a:avLst/>
          </a:prstGeom>
          <a:solidFill>
            <a:srgbClr val="E8F4FF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技术亮点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虚拟滚动：500+ 行流畅，DOM 减少 97%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一键导出 Excel：带色标、带汇总行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6. 邀标建议 — AI 智能推荐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6909C"/>
                </a:solidFill>
              </a:rPr>
              <a:t>业务功能 / 邀标建议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solidFill>
            <a:srgbClr val="E8F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77FF"/>
                </a:solidFill>
              </a:rPr>
              <a:t>上传招标文件 → 自动识别材料清单 → AI 推荐优秀供应商 → 一键发起邀请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029200" cy="2340864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566928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推荐四维评分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1691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历史中标记录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品类匹配度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价格竞争力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合作信用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功能亮点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0" y="3200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3 级 fallback 智能抽取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每项附带 AI 推荐理由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勾选后一键保存邀标名单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7. 采购数据分析 — 历史追溯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6909C"/>
                </a:solidFill>
              </a:rPr>
              <a:t>数据管理 / 采购数据分析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31520"/>
            <a:ext cx="5486400" cy="2560320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03504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多维筛选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143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专业类别（电气/给排水/暖通）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关键词模糊搜索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供应商（57 家可选）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日期范围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</a:rPr>
              <a:t>价格范围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926080"/>
            <a:ext cx="2560320" cy="731520"/>
          </a:xfrm>
          <a:prstGeom prst="rect">
            <a:avLst/>
          </a:prstGeom>
          <a:solidFill>
            <a:srgbClr val="E8F4FF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77FF"/>
                </a:solidFill>
              </a:rPr>
              <a:t>11,983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0350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09C"/>
                </a:solidFill>
              </a:rPr>
              <a:t>条历史报价记录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8. 系统设置 — 灵活可配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评分权重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4206240" cy="1956816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75488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</a:rPr>
              <a:t>偏差阈值（分品类）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005840"/>
            <a:ext cx="4206240" cy="1956816"/>
          </a:xfrm>
          <a:prstGeom prst="rect">
            <a:avLst/>
          </a:prstGeom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31520" y="3291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77FF"/>
                </a:solidFill>
              </a:rPr>
              <a:t>评分权重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E5969"/>
                </a:solidFill>
              </a:rPr>
              <a:t>五维权重合计 100%，调整后即时生效，影响供应商画像和比价推荐排序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77FF"/>
                </a:solidFill>
              </a:rPr>
              <a:t>偏差阈值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E5969"/>
                </a:solidFill>
              </a:rPr>
              <a:t>按品类独立配置黄色（需关注）和红色（异常）预警阈值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77FF"/>
                </a:solidFill>
              </a:rPr>
              <a:t>品牌档位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E5969"/>
                </a:solidFill>
              </a:rPr>
              <a:t>按品类维护一线/二线/三线品牌分档，影响品牌合规维度评分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129"/>
                </a:solidFill>
              </a:rPr>
              <a:t>9. 数据导出能力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5969"/>
                </a:solidFill>
              </a:rPr>
              <a:t>全模块一键导出 Excel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193852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导出内容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文件示例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仪表盘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采购概览 + 品类统计（双 Sheet）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MEMPAS_仪表盘报表_20260522.xlsx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供应商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全量供应商名单含评分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MEMPAS_供应商名单_20260522.xlsx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物料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物料标准库（按品类筛选）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MEMPAS_物料主数据_桥架_20260522.xlsx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采购历史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历史报价含告警色标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MEMPAS_采购数据_20260522.xlsx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比价矩阵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横向对比+偏差率+推荐+汇总行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MEMPAS_比价矩阵_母线槽_20260522.xlsx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操作日志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审计日志记录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5969"/>
                          </a:solidFill>
                        </a:rPr>
                        <a:t>MEMPAS_操作日志_20260522.xlsx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77FF"/>
                </a:solidFill>
              </a:rPr>
              <a:t>Excel 文件特性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E5969"/>
                </a:solidFill>
              </a:rPr>
              <a:t>蓝色表头 + 白色字体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E5969"/>
                </a:solidFill>
              </a:rPr>
              <a:t>告警色标（绿/黄/红）自动着色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E5969"/>
                </a:solidFill>
              </a:rPr>
              <a:t>列宽自适应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E5969"/>
                </a:solidFill>
              </a:rPr>
              <a:t>支持中文文件名（RFC 5987）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188720"/>
            <a:ext cx="502920" cy="5029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66344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MEMPAS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感谢观看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6909C"/>
                </a:solidFill>
              </a:rPr>
              <a:t>机电材料查询比价分析系统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6909C"/>
                </a:solidFill>
              </a:rPr>
              <a:t>上海建工一建集团有限公司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77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565</Words>
  <Application>Microsoft Office PowerPoint</Application>
  <PresentationFormat>On-screen Show (16:9)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MEMPAS 机电材料查询比价分析系统 功能演示</dc:title>
  <dc:subject>PptxGenJS Presentation</dc:subject>
  <dc:creator>MEMPAS</dc:creator>
  <cp:lastModifiedBy>KE YANG</cp:lastModifiedBy>
  <cp:revision>8</cp:revision>
  <dcterms:created xsi:type="dcterms:W3CDTF">2026-05-22T06:55:42Z</dcterms:created>
  <dcterms:modified xsi:type="dcterms:W3CDTF">2026-08-12T08:12:29Z</dcterms:modified>
</cp:coreProperties>
</file>
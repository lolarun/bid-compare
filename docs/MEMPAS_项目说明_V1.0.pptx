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81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7906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0"/>
            <a:ext cx="1673352" cy="13716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0"/>
            <a:ext cx="54864" cy="13716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项目说明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机电材料查询比价分析系统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MEMPAS · 让招采数据沉淀为组织资产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669280"/>
            <a:ext cx="11091672" cy="0"/>
          </a:xfrm>
          <a:prstGeom prst="line">
            <a:avLst/>
          </a:prstGeom>
          <a:noFill/>
          <a:ln w="12700">
            <a:solidFill>
              <a:srgbClr val="2A45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汇报人：杨科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585216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文档版本：V1.0  /  日期：2026年4月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本次汇报内容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914400" cy="9601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463040" y="2011680"/>
            <a:ext cx="10177272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217627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现状分析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25603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当前招采工作的痛点与机会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914400" cy="9601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0896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1463040" y="3108960"/>
            <a:ext cx="10177272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327355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提升方向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65760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系统能为业务带来什么改变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914400" cy="9601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1463040" y="4206240"/>
            <a:ext cx="10177272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437083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功能设计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475488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系统怎么用、有哪些核心能力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914400" cy="9601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30352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1463040" y="5303520"/>
            <a:ext cx="10177272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546811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实施计划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737360" y="58521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双方分工、时间节点、交付物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0" y="2377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现状分析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2920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ONE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先把当前的工作方式和痛点摊开说清楚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3337560"/>
            <a:ext cx="137160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现状分析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当前招采工作的四个痛点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440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64008" cy="201168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488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03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历史资料散乱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招标资料大部分是纸质扫描件，分散在不同位置，要查某个材料的历史价格，得翻文件柜。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36208" y="1828800"/>
            <a:ext cx="5440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36208" y="1828800"/>
            <a:ext cx="64008" cy="201168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1488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42048" y="2103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比价依赖人工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56248" y="27432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新一轮报价来了，临时发给豆包做对比，每次都要重新上传、重新整理，结果用完就丢。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5440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4114800"/>
            <a:ext cx="64008" cy="201168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348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389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异常难以识别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68680" y="50292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某个材料价格偏高 / 偏低，目前靠经验判断，缺乏量化依据，决策容易遗漏。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36208" y="4114800"/>
            <a:ext cx="5440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236208" y="4114800"/>
            <a:ext cx="64008" cy="201168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443484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42048" y="4389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知识无法共享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6556248" y="50292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比价方法、判断经验、历史合作供应商，全在每个人脑子里，新员工上手慢。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现状分析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现状的量化描述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把当前工作方式翻译成数字，可以更直观地理解改进空间所在。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697480" cy="2377440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2697480" cy="109728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单次比价耗时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靠人工统计 + 豆包辅助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64992" y="2194560"/>
            <a:ext cx="2697480" cy="2377440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64992" y="2194560"/>
            <a:ext cx="2697480" cy="109728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4688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1000+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3364992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47872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在册供应商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47872" y="4069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材料/规格/品牌写法不一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2194560"/>
            <a:ext cx="2697480" cy="2377440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81344" y="2194560"/>
            <a:ext cx="2697480" cy="109728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24688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6181344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64224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潜在使用者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64224" y="4069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录入员 + 查询用户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97696" y="2194560"/>
            <a:ext cx="2697480" cy="2377440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97696" y="2194560"/>
            <a:ext cx="2697480" cy="109728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97696" y="24688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5600" dirty="0"/>
          </a:p>
        </p:txBody>
      </p:sp>
      <p:sp>
        <p:nvSpPr>
          <p:cNvPr id="27" name="Text 25"/>
          <p:cNvSpPr/>
          <p:nvPr/>
        </p:nvSpPr>
        <p:spPr>
          <a:xfrm>
            <a:off x="8997696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80576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数据资产沉淀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80576" y="4069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每次比价完即结束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11091672" cy="777240"/>
          </a:xfrm>
          <a:prstGeom prst="rect">
            <a:avLst/>
          </a:prstGeom>
          <a:solidFill>
            <a:srgbClr val="08243F"/>
          </a:solidFill>
          <a:ln w="12700">
            <a:solidFill>
              <a:srgbClr val="0824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937760"/>
            <a:ext cx="64008" cy="7772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9377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结论：当前工作方式人力成本高、决策依据弱、知识无法复用——这正是系统建设要补齐的能力。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0" y="2377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提升方向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5029200" y="3337560"/>
            <a:ext cx="137160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系统能给业务带来的四个变化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提升方向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建设前 vs. 建设后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349240" cy="457200"/>
          </a:xfrm>
          <a:prstGeom prst="rect">
            <a:avLst/>
          </a:prstGeom>
          <a:solidFill>
            <a:srgbClr val="F0E6D6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53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82880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6520" y="1783080"/>
            <a:ext cx="5193792" cy="457200"/>
          </a:xfrm>
          <a:prstGeom prst="rect">
            <a:avLst/>
          </a:prstGeom>
          <a:solidFill>
            <a:srgbClr val="DCEDE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178308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使用系统后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53492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377440"/>
            <a:ext cx="54864" cy="77724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3774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翻文件柜查找历史价格，10 分钟起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624328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46520" y="2377440"/>
            <a:ext cx="519379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46520" y="2377440"/>
            <a:ext cx="54864" cy="7772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75120" y="237744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输入关键词，秒级出结果，含价格趋势图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246120"/>
            <a:ext cx="53492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3246120"/>
            <a:ext cx="54864" cy="77724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7240" y="3246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复制粘贴到豆包做比对，30 分钟一份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493008"/>
            <a:ext cx="274320" cy="2743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446520" y="3246120"/>
            <a:ext cx="519379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46520" y="3246120"/>
            <a:ext cx="54864" cy="7772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675120" y="324612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上传报价单一键分析，5 分钟出比价报告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48640" y="4114800"/>
            <a:ext cx="53492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" y="4114800"/>
            <a:ext cx="54864" cy="77724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77240" y="4114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供应商命名混乱，对不上号</a:t>
            </a:r>
            <a:endParaRPr lang="en-US" sz="13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4361688"/>
            <a:ext cx="274320" cy="27432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446520" y="4114800"/>
            <a:ext cx="519379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46520" y="4114800"/>
            <a:ext cx="54864" cy="7772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675120" y="411480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自动对齐到标准库，多家投标横向可比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548640" y="4983480"/>
            <a:ext cx="53492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48640" y="4983480"/>
            <a:ext cx="54864" cy="77724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77240" y="4983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比价完文件丢一边，下次重来</a:t>
            </a:r>
            <a:endParaRPr lang="en-US" sz="13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5230368"/>
            <a:ext cx="274320" cy="27432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446520" y="4983480"/>
            <a:ext cx="519379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446520" y="4983480"/>
            <a:ext cx="54864" cy="7772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675120" y="498348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结果自动归档，谁、何时、何决策可追溯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提升方向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系统创造的三类核心价值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3657600" cy="109728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205740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216712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83%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486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比价耗时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920240" y="4617720"/>
            <a:ext cx="914400" cy="0"/>
          </a:xfrm>
          <a:prstGeom prst="line">
            <a:avLst/>
          </a:prstGeom>
          <a:noFill/>
          <a:ln w="19050">
            <a:solidFill>
              <a:srgbClr val="0F30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4754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30 分钟 → 5 分钟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支持批量上传报价单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一键导出比价报告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25112" y="182880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25112" y="1828800"/>
            <a:ext cx="3657600" cy="109728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33872" y="205740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172" y="2167128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25112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4000" dirty="0"/>
          </a:p>
        </p:txBody>
      </p:sp>
      <p:sp>
        <p:nvSpPr>
          <p:cNvPr id="19" name="Text 15"/>
          <p:cNvSpPr/>
          <p:nvPr/>
        </p:nvSpPr>
        <p:spPr>
          <a:xfrm>
            <a:off x="4325112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数据可追溯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325112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696712" y="4617720"/>
            <a:ext cx="914400" cy="0"/>
          </a:xfrm>
          <a:prstGeom prst="line">
            <a:avLst/>
          </a:prstGeom>
          <a:noFill/>
          <a:ln w="19050">
            <a:solidFill>
              <a:srgbClr val="00889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90872" y="4754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历史招采数据集中入库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标准材料清单组织共享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比价过程留档可审计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101584" y="182880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01584" y="1828800"/>
            <a:ext cx="3657600" cy="10972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610344" y="205740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4644" y="2167128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101584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4000" dirty="0"/>
          </a:p>
        </p:txBody>
      </p:sp>
      <p:sp>
        <p:nvSpPr>
          <p:cNvPr id="28" name="Text 23"/>
          <p:cNvSpPr/>
          <p:nvPr/>
        </p:nvSpPr>
        <p:spPr>
          <a:xfrm>
            <a:off x="8101584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辅助决策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101584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智能分析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9473184" y="4617720"/>
            <a:ext cx="914400" cy="0"/>
          </a:xfrm>
          <a:prstGeom prst="line">
            <a:avLst/>
          </a:prstGeom>
          <a:noFill/>
          <a:ln w="19050">
            <a:solidFill>
              <a:srgbClr val="E07B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467344" y="4754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偏差预警自动标红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多供应商横向对比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给出合理化建议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THREE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0" y="2377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功能设计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5029200" y="3337560"/>
            <a:ext cx="137160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系统怎么用，有哪些核心能力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功能设计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系统功能总览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围绕招采业务，系统由 4 个能力模块构成，覆盖从数据进入到智能分析的完整链路。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97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2697480" cy="132588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22860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8163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数据入库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361188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扫描件 OCR 自动识别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字段结构化提取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数据清洗与贯标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64992" y="2103120"/>
            <a:ext cx="2697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64992" y="2103120"/>
            <a:ext cx="2697480" cy="132588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47872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22860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93592" y="28163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数据管理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639312" y="361188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标准样板库维护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历史招采数据库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多维度查询筛选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81344" y="2103120"/>
            <a:ext cx="2697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81344" y="2103120"/>
            <a:ext cx="2697480" cy="13258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64224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4" y="22860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9944" y="28163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比价分析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455664" y="361188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多供应商横向对比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偏差预警自动识别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比价报告导出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997696" y="2103120"/>
            <a:ext cx="2697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997696" y="2103120"/>
            <a:ext cx="2697480" cy="132588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180576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7936" y="228600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26296" y="28163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智能建议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9272016" y="361188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综合分析报告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推荐采购方案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风险点识别提示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数据流转：① 入库 → ② 管理 → ③ 分析 → ④ 建议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功能设计  ·  ① 数据入库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扫描件智能识别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一次扫，自动识别成可查询的结构化数据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PDF / JPG / PNG 批量上传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自动识别材料名、规格、单价、供应商等关键字段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识别置信度低的字段标黄提示，由录入员人工复核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确认后入库，可直接用于查询和比价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5943600" cy="1371600"/>
          </a:xfrm>
          <a:prstGeom prst="rect">
            <a:avLst/>
          </a:prstGeom>
          <a:solidFill>
            <a:srgbClr val="EFF3F8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754880"/>
            <a:ext cx="54864" cy="13716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8646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51663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识别精度受扫描件质量影响，对模糊、倾斜、印章遮挡内容需人工校对。系统会标出识别不确定的字段，省掉从零敲入的工作量。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1691640"/>
            <a:ext cx="4782312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828800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流程示意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2468880"/>
            <a:ext cx="502920" cy="50292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8096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上传扫描件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JPG / PNG 批量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92340" y="2971800"/>
            <a:ext cx="0" cy="301752"/>
          </a:xfrm>
          <a:prstGeom prst="line">
            <a:avLst/>
          </a:prstGeom>
          <a:noFill/>
          <a:ln w="19050">
            <a:solidFill>
              <a:srgbClr val="DCE3E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040880" y="3410712"/>
            <a:ext cx="502920" cy="502920"/>
          </a:xfrm>
          <a:prstGeom prst="ellipse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80960" y="3364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自动识别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80960" y="3730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提取关键字段成表格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92340" y="3913632"/>
            <a:ext cx="0" cy="301752"/>
          </a:xfrm>
          <a:prstGeom prst="line">
            <a:avLst/>
          </a:prstGeom>
          <a:noFill/>
          <a:ln w="19050">
            <a:solidFill>
              <a:srgbClr val="DCE3E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040880" y="4352544"/>
            <a:ext cx="502920" cy="50292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4352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80960" y="4306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人工复核黄色字段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80960" y="46725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重点检查不确定项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92340" y="4855464"/>
            <a:ext cx="0" cy="301752"/>
          </a:xfrm>
          <a:prstGeom prst="line">
            <a:avLst/>
          </a:prstGeom>
          <a:noFill/>
          <a:ln w="19050">
            <a:solidFill>
              <a:srgbClr val="DCE3E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040880" y="5294376"/>
            <a:ext cx="502920" cy="502920"/>
          </a:xfrm>
          <a:prstGeom prst="ellipse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5294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80960" y="52486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确认入库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80960" y="56144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进入历史数据库可查可用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功能设计  ·  ② 数据管理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标准样板库与数据贯标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把不规范的写法统一对齐到标准命名，是后续比价的前提。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举个实际例子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411480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DN100 无缝钢管 Q235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411480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46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无缝钢管 100mm 国标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411480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94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寸钢管 钢级 Q235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411480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343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Φ108 无缝钢管 国标</a:t>
            </a:r>
            <a:endParaRPr lang="en-US" sz="13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520440"/>
            <a:ext cx="457200" cy="457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86400" y="2743200"/>
            <a:ext cx="6126480" cy="219456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2880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标准样板库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69280" y="32461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DN100 无缝钢管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669280" y="38404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规格：Q235  ·  单位：米  ·  推荐品牌：鞍钢、宝钢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69280" y="41605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参考价格区间：60 – 90 元/米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0" y="4572000"/>
            <a:ext cx="1371600" cy="27432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已贯标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5212080"/>
            <a:ext cx="11091672" cy="914400"/>
          </a:xfrm>
          <a:prstGeom prst="rect">
            <a:avLst/>
          </a:prstGeom>
          <a:solidFill>
            <a:srgbClr val="EFF3F8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5212080"/>
            <a:ext cx="54864" cy="91440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5303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自动化能力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7724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系统识别同义/近义写法（如 DN100 = 100mm = 4 寸）自动匹配标准；不确定的弹窗交人工确认，确认后系统记忆下次自动应用。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功能设计  ·  ③ 比价分析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核心场景：多供应商横向对比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最常用、价值最大的功能：把 3-5 家供应商的报价一次性看清楚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7772400" cy="23774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材料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历史均价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 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 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 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DN100 钢管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¥72.00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07B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¥78.00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07B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+8.3%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53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¥85.00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53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+18.1%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A3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¥70.00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A3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-2.8%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蝶阀 D71X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¥685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07B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¥720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07B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+5.1%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A3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¥685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A3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8A95A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未报价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PPR 给水管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¥12.79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B58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¥13.20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B58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+3.2%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8A95A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未报价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A3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¥11.80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A3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-7.7%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503920" y="2377440"/>
            <a:ext cx="3136392" cy="3931920"/>
          </a:xfrm>
          <a:prstGeom prst="rect">
            <a:avLst/>
          </a:prstGeom>
          <a:solidFill>
            <a:srgbClr val="08243F"/>
          </a:solidFill>
          <a:ln w="12700">
            <a:solidFill>
              <a:srgbClr val="08243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0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综合建议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0" y="2926080"/>
            <a:ext cx="2743200" cy="0"/>
          </a:xfrm>
          <a:prstGeom prst="line">
            <a:avLst/>
          </a:prstGeom>
          <a:noFill/>
          <a:ln w="12700">
            <a:solidFill>
              <a:srgbClr val="2A45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整体评估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0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家投标价格分布合理，未发现异常低价或围标迹象。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推荐方案</a:t>
            </a:r>
            <a:endParaRPr lang="en-US" sz="1200" dirty="0"/>
          </a:p>
        </p:txBody>
      </p:sp>
      <p:sp>
        <p:nvSpPr>
          <p:cNvPr id="7" name="Text 11"/>
          <p:cNvSpPr/>
          <p:nvPr/>
        </p:nvSpPr>
        <p:spPr>
          <a:xfrm>
            <a:off x="8686800" y="4297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以供应商 C 为主供（钢管 / PPR 管），蝶阀由 B 补足。预估总价较单一供应商方案节省约 8.3%。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0" y="5623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 B 的钢管报价偏高 18%，建议核查是否含特殊加工费用。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49377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说明：上图为示意。实际系统支持 3-5 家供应商投标、稀疏报价（部分供应商只报部分材料）、按总价 / 单项最优 / 历史合作综合评分。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功能设计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用户角色与权限设计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不同角色看到的菜单和能做的事不同，确保数据安全且操作清晰。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3657600" cy="109728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系统管理员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建账号、分角色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维护标准样板库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查看操作日志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系统配置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5112" y="219456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5112" y="2194560"/>
            <a:ext cx="3657600" cy="109728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数据录入员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99432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90872" y="34747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上传扫描件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 OCR 识别结果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确认数据入库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维护历史数据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01584" y="219456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1584" y="2194560"/>
            <a:ext cx="3657600" cy="10972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5904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查询分析用户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75904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67344" y="34747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查询历史数据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发起比价分析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 AI 建议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导出报告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5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所有用户操作均有日志记录，谁、何时、做了什么，均可追溯。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02920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FOUR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0" y="2377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实施计划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5029200" y="3337560"/>
            <a:ext cx="137160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双方各做什么 · 时间节点 · 交付物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实施计划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双方分工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项目能不能按时上线，一半看开发方、一半看业务方提供数据的及时性。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4068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30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5440680" cy="59436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乙方（开发方）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926080"/>
            <a:ext cx="274320" cy="27432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2862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需求确认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862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再次梳理细节、画原型给您看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274320" cy="27432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3410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系统研发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3410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网页界面、数据库、AI 集成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023360"/>
            <a:ext cx="274320" cy="27432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3959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06040" y="3959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您提供数据，我导入 + 贯标 + 入库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572000"/>
            <a:ext cx="274320" cy="27432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4507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上线部署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06040" y="4507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云端配置、域名、SSL 证书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5120640"/>
            <a:ext cx="274320" cy="27432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5056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培训交付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06040" y="5056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次远程培训 + 使用手册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" y="5669280"/>
            <a:ext cx="274320" cy="274320"/>
          </a:xfrm>
          <a:prstGeom prst="ellipse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669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" y="5605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售后维护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06040" y="5605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交付后 3 个月免费维护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99632" y="2103120"/>
            <a:ext cx="544068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99632" y="2103120"/>
            <a:ext cx="5440680" cy="59436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210312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甲方（业务方）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428232" y="2926080"/>
            <a:ext cx="274320" cy="27432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93992" y="2862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提供标准清单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94192" y="2862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现有招标用的那份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28232" y="3474720"/>
            <a:ext cx="274320" cy="27432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8232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93992" y="3410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提供历史扫描件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94192" y="3410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数量按双方约定上限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28232" y="4023360"/>
            <a:ext cx="274320" cy="27432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93992" y="3959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提供比价样例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394192" y="3959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份，参考输出格式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28232" y="4572000"/>
            <a:ext cx="274320" cy="27432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28232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93992" y="4507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关键节点确认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394192" y="4507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需求、原型、验收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28232" y="5120640"/>
            <a:ext cx="274320" cy="27432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28232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793992" y="5056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安排试用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394192" y="5056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2-3 名一线人员测试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428232" y="5669280"/>
            <a:ext cx="274320" cy="27432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28232" y="5669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793992" y="5605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承担运行费用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394192" y="5605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云服务、域名、AI 调用费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实施计划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项目时间线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总周期约 4 周，分为 4 个阶段。系统研发与数据导入并行推进。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2103120"/>
            <a:ext cx="1728216" cy="365760"/>
          </a:xfrm>
          <a:prstGeom prst="rect">
            <a:avLst/>
          </a:prstGeom>
          <a:solidFill>
            <a:srgbClr val="EFF3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210312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74920" y="2103120"/>
            <a:ext cx="1728216" cy="365760"/>
          </a:xfrm>
          <a:prstGeom prst="rect">
            <a:avLst/>
          </a:prstGeom>
          <a:solidFill>
            <a:srgbClr val="EFF3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210312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2103120"/>
            <a:ext cx="1728216" cy="365760"/>
          </a:xfrm>
          <a:prstGeom prst="rect">
            <a:avLst/>
          </a:prstGeom>
          <a:solidFill>
            <a:srgbClr val="EFF3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210312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41080" y="2103120"/>
            <a:ext cx="1728216" cy="365760"/>
          </a:xfrm>
          <a:prstGeom prst="rect">
            <a:avLst/>
          </a:prstGeom>
          <a:solidFill>
            <a:srgbClr val="EFF3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210312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需求确认 / 原型确认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606040"/>
            <a:ext cx="7077456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2660904"/>
            <a:ext cx="1691640" cy="301752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69880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090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系统研发（前后端 / 数据库 / AI）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090672"/>
            <a:ext cx="7077456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9100" y="3145536"/>
            <a:ext cx="4009644" cy="301752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69880" y="30906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5753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标准清单导入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3575304"/>
            <a:ext cx="7077456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3630168"/>
            <a:ext cx="1156716" cy="30175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69880" y="357530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甲方提供 + 乙方导入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05993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历史扫描件 OCR + 数据贯标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4059936"/>
            <a:ext cx="7077456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55564" y="4114800"/>
            <a:ext cx="2939796" cy="30175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69880" y="40599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甲方提供 + 乙方处理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5445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联调测试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91840" y="4544568"/>
            <a:ext cx="7077456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95260" y="4599432"/>
            <a:ext cx="1513332" cy="301752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69880" y="4544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5029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用户试用 + 培训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1840" y="5029200"/>
            <a:ext cx="7077456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0" y="5084064"/>
            <a:ext cx="1067562" cy="30175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69880" y="5029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55138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上线交付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91840" y="5513832"/>
            <a:ext cx="7077456" cy="4114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56648" y="5568696"/>
            <a:ext cx="532638" cy="30175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469880" y="5513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6035040"/>
            <a:ext cx="228600" cy="164592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5989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系统研发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834640" y="6035040"/>
            <a:ext cx="228600" cy="16459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54680" y="5989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数据导入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120640" y="6035040"/>
            <a:ext cx="228600" cy="164592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0680" y="5989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需求/联调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06640" y="6035040"/>
            <a:ext cx="228600" cy="16459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26680" y="5989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交付/培训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实施计划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数据导入说明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数据导入分两条线并行：标准清单先建好，历史数据陆续补充。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406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5440680" cy="82296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860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2402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 标准样板库导入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71600" y="26060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项目第 1 周完成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甲方提供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33832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现有招标用的标准清单文件（一份示例即可，无需整理）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乙方处理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429768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梳理字段结构（名称 / 规格 / 单位 / 推荐品牌）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按专业分类（给排水 / 电气 / 暖通 / 消防）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录入系统并完成首版校对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向量化处理，为后续语义匹配做准备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99632" y="2103120"/>
            <a:ext cx="54406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2103120"/>
            <a:ext cx="5440680" cy="822960"/>
          </a:xfrm>
          <a:prstGeom prst="rect">
            <a:avLst/>
          </a:prstGeom>
          <a:solidFill>
            <a:srgbClr val="008891"/>
          </a:solidFill>
          <a:ln w="12700">
            <a:solidFill>
              <a:srgbClr val="008891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28600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22592" y="22402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 历史招采数据导入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7022592" y="26060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项目第 2-3 周完成（与系统研发并行）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28232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甲方提供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428232" y="33832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过去一年的招标扫描件（PDF / 图片格式即可，数量按双方约定上限）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428232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乙方处理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428232" y="429768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 识别扫描件，提取材料字段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对齐到标准样板库（数据贯标）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识别置信度低的字段标黄，与甲方对接复核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确认无误后批量入库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8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实施计划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交付物清单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项目结束时，您将获得以下成果：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1188720" cy="11887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688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2402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套上线运行的网页系统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20240" y="26974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打开浏览器即可使用，已完成云端部署、账号开通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36208" y="210312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36208" y="2103120"/>
            <a:ext cx="1188720" cy="11887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4688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07808" y="22402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个含历史数据的数据库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607808" y="26974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您提供的历史招采资料已 OCR 入库、完成贯标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47472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474720"/>
            <a:ext cx="1188720" cy="11887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404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20240" y="36118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套机电材料标准样板库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920240" y="40690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按专业分类的标准命名清单，可后续维护扩展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36208" y="347472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36208" y="3474720"/>
            <a:ext cx="1188720" cy="11887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384048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07808" y="36118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套完整的项目文档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607808" y="40690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用户手册、管理员手册、项目总结报告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484632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48640" y="4846320"/>
            <a:ext cx="1188720" cy="11887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21208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920240" y="49834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次远程系统培训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1920240" y="54406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 小时，覆盖所有功能模块的使用方法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236208" y="484632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36208" y="4846320"/>
            <a:ext cx="1188720" cy="118872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968" y="5212080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607808" y="49834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个月免费维护期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7607808" y="54406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 bug 修复、故障处理、使用咨询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B1917E-6662-FF1E-ED32-6CB5CFE3D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36" y="1038131"/>
            <a:ext cx="9995115" cy="558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88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07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137160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108960"/>
            <a:ext cx="2697480" cy="2011680"/>
          </a:xfrm>
          <a:prstGeom prst="rect">
            <a:avLst/>
          </a:prstGeom>
          <a:solidFill>
            <a:srgbClr val="1A446F"/>
          </a:solidFill>
          <a:ln w="12700">
            <a:solidFill>
              <a:srgbClr val="2A45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383280"/>
            <a:ext cx="548640" cy="54864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4069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4434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您方反馈本说明的修改意见和补充信息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3108960"/>
            <a:ext cx="2697480" cy="2011680"/>
          </a:xfrm>
          <a:prstGeom prst="rect">
            <a:avLst/>
          </a:prstGeom>
          <a:solidFill>
            <a:srgbClr val="1A446F"/>
          </a:solidFill>
          <a:ln w="12700">
            <a:solidFill>
              <a:srgbClr val="2A45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3383280"/>
            <a:ext cx="548640" cy="54864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86200" y="4069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86200" y="4434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我方根据反馈调整说明书 V2 版本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3108960"/>
            <a:ext cx="2697480" cy="2011680"/>
          </a:xfrm>
          <a:prstGeom prst="rect">
            <a:avLst/>
          </a:prstGeom>
          <a:solidFill>
            <a:srgbClr val="1A446F"/>
          </a:solidFill>
          <a:ln w="12700">
            <a:solidFill>
              <a:srgbClr val="2A45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3383280"/>
            <a:ext cx="548640" cy="54864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20840" y="4069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4434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正式立项，开始需求详细确认与原型设计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81160" y="3108960"/>
            <a:ext cx="2697480" cy="2011680"/>
          </a:xfrm>
          <a:prstGeom prst="rect">
            <a:avLst/>
          </a:prstGeom>
          <a:solidFill>
            <a:srgbClr val="1A446F"/>
          </a:solidFill>
          <a:ln w="12700">
            <a:solidFill>
              <a:srgbClr val="2A45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3383280"/>
            <a:ext cx="548640" cy="54864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555480" y="4069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第六周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55480" y="4434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系统上线，完成交付与培训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5943600"/>
            <a:ext cx="10607040" cy="0"/>
          </a:xfrm>
          <a:prstGeom prst="line">
            <a:avLst/>
          </a:prstGeom>
          <a:noFill/>
          <a:ln w="12700">
            <a:solidFill>
              <a:srgbClr val="2A45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6080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汇报人：杨科  ·  联系方式以程序员客栈平台为准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917</Words>
  <Application>Microsoft Office PowerPoint</Application>
  <PresentationFormat>Widescreen</PresentationFormat>
  <Paragraphs>359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Microsoft YaHei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机电材料查询比价分析系统 项目说明</dc:title>
  <dc:subject>PptxGenJS Presentation</dc:subject>
  <dc:creator>杨科</dc:creator>
  <cp:lastModifiedBy>KE YANG</cp:lastModifiedBy>
  <cp:revision>3</cp:revision>
  <dcterms:created xsi:type="dcterms:W3CDTF">2026-04-26T16:42:34Z</dcterms:created>
  <dcterms:modified xsi:type="dcterms:W3CDTF">2026-04-27T01:48:39Z</dcterms:modified>
</cp:coreProperties>
</file>
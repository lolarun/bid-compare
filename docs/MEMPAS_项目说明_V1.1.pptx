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02" autoAdjust="0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75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1681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0"/>
            <a:ext cx="1673352" cy="13716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0"/>
            <a:ext cx="54864" cy="13716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项目说明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材料查询比价分析系统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3657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MEMPAS · 让招采数据沉淀为组织资产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669280"/>
            <a:ext cx="11091672" cy="0"/>
          </a:xfrm>
          <a:prstGeom prst="line">
            <a:avLst/>
          </a:prstGeom>
          <a:noFill/>
          <a:ln w="12700">
            <a:solidFill>
              <a:srgbClr val="2A45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汇报人：杨科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585216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文档版本：V1.1  /  日期：2026年4月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本次汇报内容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914400" cy="713232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463040" y="1783080"/>
            <a:ext cx="10177272" cy="713232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8745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现状分析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737360" y="2203704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当前招采工作的痛点与机会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914400" cy="713232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87752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463040" y="2587752"/>
            <a:ext cx="10177272" cy="713232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67919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提升方向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737360" y="3008376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系统能为业务带来什么改变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914400" cy="713232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92424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463040" y="3392424"/>
            <a:ext cx="10177272" cy="713232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348386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业务流程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38130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系统在您日常工作中怎么运转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97096"/>
            <a:ext cx="914400" cy="713232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97096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1463040" y="4197096"/>
            <a:ext cx="10177272" cy="713232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428853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功能设计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737360" y="461772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系统提供哪些核心能力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001768"/>
            <a:ext cx="914400" cy="713232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001768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1463040" y="5001768"/>
            <a:ext cx="10177272" cy="713232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509320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原型演示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737360" y="5422392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实际界面与操作效果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806440"/>
            <a:ext cx="914400" cy="713232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80644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1463040" y="5806440"/>
            <a:ext cx="10177272" cy="713232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37360" y="58978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实施计划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1737360" y="6227064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双方分工、时间节点、交付物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029200" y="2377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现状分析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2920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ONE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先把当前的工作方式和痛点摊开说清楚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0" y="3337560"/>
            <a:ext cx="137160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现状分析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当前招采工作的四个痛点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440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64008" cy="201168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488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1031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历史资料散乱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招标资料大部分是纸质扫描件，分散在不同位置，要查某个材料的历史价格，得翻文件柜。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36208" y="1828800"/>
            <a:ext cx="5440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36208" y="1828800"/>
            <a:ext cx="64008" cy="201168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1488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42048" y="21031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比价依赖人工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556248" y="27432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新一轮报价来了，临时发给豆包做对比，每次都要重新上传、重新整理，结果用完就丢。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114800"/>
            <a:ext cx="5440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4114800"/>
            <a:ext cx="64008" cy="201168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4348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3891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异常难以识别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68680" y="50292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某个材料价格偏高 / 偏低，目前靠经验判断，缺乏量化依据，决策容易遗漏。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36208" y="4114800"/>
            <a:ext cx="5440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236208" y="4114800"/>
            <a:ext cx="64008" cy="201168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443484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42048" y="43891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知识无法共享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6556248" y="50292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比价方法、判断经验、历史合作供应商，全在每个人脑子里，新员工上手慢。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现状分析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现状的量化描述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把当前工作方式翻译成数字，可以更直观地理解改进空间所在。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697480" cy="2377440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2697480" cy="109728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单次比价耗时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靠人工统计 + 豆包辅助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64992" y="2194560"/>
            <a:ext cx="2697480" cy="2377440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64992" y="2194560"/>
            <a:ext cx="2697480" cy="109728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24688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1000+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3364992" y="3383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47872" y="3703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在册供应商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47872" y="4069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材料/规格/品牌写法不一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2194560"/>
            <a:ext cx="2697480" cy="2377440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81344" y="2194560"/>
            <a:ext cx="2697480" cy="109728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24688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20+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6181344" y="3383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64224" y="3703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潜在使用者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64224" y="4069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录入员 + 查询用户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97696" y="2194560"/>
            <a:ext cx="2697480" cy="2377440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97696" y="2194560"/>
            <a:ext cx="2697480" cy="109728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97696" y="24688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5600" dirty="0"/>
          </a:p>
        </p:txBody>
      </p:sp>
      <p:sp>
        <p:nvSpPr>
          <p:cNvPr id="27" name="Text 25"/>
          <p:cNvSpPr/>
          <p:nvPr/>
        </p:nvSpPr>
        <p:spPr>
          <a:xfrm>
            <a:off x="8997696" y="3383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份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80576" y="3703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数据资产沉淀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80576" y="4069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每次比价完即结束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937760"/>
            <a:ext cx="11091672" cy="777240"/>
          </a:xfrm>
          <a:prstGeom prst="rect">
            <a:avLst/>
          </a:prstGeom>
          <a:solidFill>
            <a:srgbClr val="08243F"/>
          </a:solidFill>
          <a:ln w="12700">
            <a:solidFill>
              <a:srgbClr val="08243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937760"/>
            <a:ext cx="64008" cy="7772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9377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结论：当前工作方式人力成本高、决策依据弱、知识无法复用——这正是系统建设要补齐的能力。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02920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TWO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0" y="2377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提升方向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5029200" y="3337560"/>
            <a:ext cx="137160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系统能给业务带来的四个变化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提升方向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建设前 vs. 建设后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5349240" cy="457200"/>
          </a:xfrm>
          <a:prstGeom prst="rect">
            <a:avLst/>
          </a:prstGeom>
          <a:solidFill>
            <a:srgbClr val="F0E6D6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53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82880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46520" y="1783080"/>
            <a:ext cx="5193792" cy="457200"/>
          </a:xfrm>
          <a:prstGeom prst="rect">
            <a:avLst/>
          </a:prstGeom>
          <a:solidFill>
            <a:srgbClr val="DCEDE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1783080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使用系统后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534924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377440"/>
            <a:ext cx="54864" cy="77724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3774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翻文件柜查找历史价格，10分钟起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624328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46520" y="2377440"/>
            <a:ext cx="519379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46520" y="2377440"/>
            <a:ext cx="54864" cy="7772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75120" y="237744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输入关键词，秒级出结果，含价格趋势图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3246120"/>
            <a:ext cx="534924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3246120"/>
            <a:ext cx="54864" cy="77724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7240" y="3246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复制粘贴到豆包做比对，30分钟一份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493008"/>
            <a:ext cx="274320" cy="2743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446520" y="3246120"/>
            <a:ext cx="519379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46520" y="3246120"/>
            <a:ext cx="54864" cy="7772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675120" y="324612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上传报价单 → </a:t>
            </a:r>
            <a:r>
              <a:rPr lang="en-US" sz="1300" b="1" dirty="0" err="1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AI自动比价分析</a:t>
            </a: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5分钟</a:t>
            </a:r>
            <a:r>
              <a:rPr lang="zh-CN" alt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之内</a:t>
            </a:r>
            <a:r>
              <a:rPr lang="en-US" sz="1300" b="1" dirty="0" err="1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出报告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48640" y="4114800"/>
            <a:ext cx="534924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8640" y="4114800"/>
            <a:ext cx="54864" cy="77724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77240" y="41148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供应商命名混乱，对不上号</a:t>
            </a:r>
            <a:endParaRPr lang="en-US" sz="13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4361688"/>
            <a:ext cx="274320" cy="27432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446520" y="4114800"/>
            <a:ext cx="519379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46520" y="4114800"/>
            <a:ext cx="54864" cy="7772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675120" y="411480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看懂同义写法 → 自动对齐标准库 → 多家可比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548640" y="4983480"/>
            <a:ext cx="534924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48640" y="4983480"/>
            <a:ext cx="54864" cy="77724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77240" y="4983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比价完文件丢一边，下次重来</a:t>
            </a:r>
            <a:endParaRPr lang="en-US" sz="13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5230368"/>
            <a:ext cx="274320" cy="27432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446520" y="4983480"/>
            <a:ext cx="519379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446520" y="4983480"/>
            <a:ext cx="54864" cy="7772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675120" y="498348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+ AI 建议自动归档 · 决策可追溯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提升方向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系统创造的三类核心价值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3657600" cy="109728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205740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0" y="216712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83%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486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比价耗时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1920240" y="4617720"/>
            <a:ext cx="914400" cy="0"/>
          </a:xfrm>
          <a:prstGeom prst="line">
            <a:avLst/>
          </a:prstGeom>
          <a:noFill/>
          <a:ln w="19050">
            <a:solidFill>
              <a:srgbClr val="0F30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4754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30 分钟 → 5 分钟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支持批量上传报价单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一键导出比价报告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25112" y="182880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25112" y="1828800"/>
            <a:ext cx="3657600" cy="109728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33872" y="205740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172" y="2167128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25112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4000" dirty="0"/>
          </a:p>
        </p:txBody>
      </p:sp>
      <p:sp>
        <p:nvSpPr>
          <p:cNvPr id="19" name="Text 15"/>
          <p:cNvSpPr/>
          <p:nvPr/>
        </p:nvSpPr>
        <p:spPr>
          <a:xfrm>
            <a:off x="4325112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数据可追溯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325112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知识沉淀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696712" y="4617720"/>
            <a:ext cx="914400" cy="0"/>
          </a:xfrm>
          <a:prstGeom prst="line">
            <a:avLst/>
          </a:prstGeom>
          <a:noFill/>
          <a:ln w="19050">
            <a:solidFill>
              <a:srgbClr val="00889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90872" y="4754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历史招采数据集中入库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标准材料清单组织共享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比价过程留档可审计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101584" y="182880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101584" y="1828800"/>
            <a:ext cx="3657600" cy="109728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610344" y="205740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4644" y="2167128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101584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4000" dirty="0"/>
          </a:p>
        </p:txBody>
      </p:sp>
      <p:sp>
        <p:nvSpPr>
          <p:cNvPr id="28" name="Text 23"/>
          <p:cNvSpPr/>
          <p:nvPr/>
        </p:nvSpPr>
        <p:spPr>
          <a:xfrm>
            <a:off x="8101584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辅助决策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101584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智能分析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9473184" y="4617720"/>
            <a:ext cx="914400" cy="0"/>
          </a:xfrm>
          <a:prstGeom prst="line">
            <a:avLst/>
          </a:prstGeom>
          <a:noFill/>
          <a:ln w="19050">
            <a:solidFill>
              <a:srgbClr val="E07B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467344" y="4754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DeepSeek 大模型驱动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推荐主供 + 风险提示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200" dirty="0" err="1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</a:t>
            </a:r>
            <a:r>
              <a:rPr lang="zh-CN" alt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</a:t>
            </a: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对比5家</a:t>
            </a:r>
            <a:r>
              <a:rPr lang="zh-CN" alt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</a:t>
            </a:r>
            <a:r>
              <a:rPr lang="en-US" sz="1200" dirty="0" err="1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投标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02920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THREE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0" y="2377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业务流程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5029200" y="3337560"/>
            <a:ext cx="137160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系统在您日常工作中怎么运转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业务流程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端到端数据流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从纸质资料进入系统，到沉淀为可复用的数据资产，再支撑日常比价决策，全流程闭环。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3657600" cy="118872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82880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数据进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把零散的纸质资料变成结构化数据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纸质扫描件上传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自动识别字段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对齐标准库（贯标）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录入员复核入库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25112" y="210312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25112" y="2103120"/>
            <a:ext cx="3657600" cy="118872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605272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数据用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605272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招采人员在系统里完成日常工作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90872" y="347472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新一轮报价上传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多供应商横向比价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综合分析建议（DeepSeek）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导出比价报告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210312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01584" y="2103120"/>
            <a:ext cx="3657600" cy="118872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5904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381744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数据沉淀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81744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每次使用都让系统更聪明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67344" y="347472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比价结果自动归档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供应商履约记录积累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标准库扩展完善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形成组织级知识资产</a:t>
            </a:r>
            <a:endParaRPr lang="en-US" sz="13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840480"/>
            <a:ext cx="182880" cy="182880"/>
          </a:xfrm>
          <a:prstGeom prst="rect">
            <a:avLst/>
          </a:prstGeom>
        </p:spPr>
      </p:pic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3840480"/>
            <a:ext cx="182880" cy="1828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数据每被使用一次，组织的招采能力就增强一分。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业务流程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三大核心使用场景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系统主要支撑三个高频场景，覆盖招采人员日常 80% 以上的工作。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3657600" cy="91440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2194560"/>
            <a:ext cx="685800" cy="29260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1945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9456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2176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新一轮招标比价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08760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使用人：招采工程师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" y="3118104"/>
            <a:ext cx="228600" cy="22860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1181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" y="30815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收到投标方报价单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502152"/>
            <a:ext cx="228600" cy="22860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5021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" y="346557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上传到系统（Excel / 手工录入）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" y="3886200"/>
            <a:ext cx="228600" cy="22860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3886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" y="384962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自动找出历史可比项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22960" y="4270248"/>
            <a:ext cx="228600" cy="22860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42702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" y="42336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横向比对多家供应商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22960" y="4654296"/>
            <a:ext cx="228600" cy="22860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2960" y="46542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" y="46177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 AI 综合建议（DeepSeek）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22960" y="5038344"/>
            <a:ext cx="228600" cy="22860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2960" y="50383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43000" y="500176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导出比价报告给领导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22960" y="5577840"/>
            <a:ext cx="3108960" cy="320040"/>
          </a:xfrm>
          <a:prstGeom prst="rect">
            <a:avLst/>
          </a:prstGeom>
          <a:solidFill>
            <a:srgbClr val="EFF3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2960" y="5577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耗时：5 分钟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325112" y="201168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25112" y="2011680"/>
            <a:ext cx="3657600" cy="91440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114032" y="2194560"/>
            <a:ext cx="685800" cy="29260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14032" y="21945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中频</a:t>
            </a:r>
            <a:endParaRPr lang="en-US" sz="1100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194560"/>
            <a:ext cx="548640" cy="54864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5285232" y="2176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历史价格查询</a:t>
            </a:r>
            <a:endParaRPr lang="en-US" sz="1800" dirty="0"/>
          </a:p>
        </p:txBody>
      </p:sp>
      <p:sp>
        <p:nvSpPr>
          <p:cNvPr id="39" name="Text 35"/>
          <p:cNvSpPr/>
          <p:nvPr/>
        </p:nvSpPr>
        <p:spPr>
          <a:xfrm>
            <a:off x="5285232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使用人：工程师 / 项目经理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4599432" y="3118104"/>
            <a:ext cx="228600" cy="228600"/>
          </a:xfrm>
          <a:prstGeom prst="ellipse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599432" y="31181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4919472" y="30815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领导问某材料历史价格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4599432" y="3502152"/>
            <a:ext cx="228600" cy="228600"/>
          </a:xfrm>
          <a:prstGeom prst="ellipse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599432" y="35021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4919472" y="346557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在系统里搜关键词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4599432" y="3886200"/>
            <a:ext cx="228600" cy="228600"/>
          </a:xfrm>
          <a:prstGeom prst="ellipse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599432" y="3886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4919472" y="384962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查看价格趋势图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4599432" y="4270248"/>
            <a:ext cx="228600" cy="228600"/>
          </a:xfrm>
          <a:prstGeom prst="ellipse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599432" y="42702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4919472" y="42336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查看历次合作供应商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4599432" y="4654296"/>
            <a:ext cx="228600" cy="228600"/>
          </a:xfrm>
          <a:prstGeom prst="ellipse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599432" y="46542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4919472" y="46177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 Excel 提交</a:t>
            </a:r>
            <a:endParaRPr lang="en-US" sz="1100" dirty="0"/>
          </a:p>
        </p:txBody>
      </p:sp>
      <p:sp>
        <p:nvSpPr>
          <p:cNvPr id="55" name="Shape 51"/>
          <p:cNvSpPr/>
          <p:nvPr/>
        </p:nvSpPr>
        <p:spPr>
          <a:xfrm>
            <a:off x="4599432" y="5577840"/>
            <a:ext cx="3108960" cy="320040"/>
          </a:xfrm>
          <a:prstGeom prst="rect">
            <a:avLst/>
          </a:prstGeom>
          <a:solidFill>
            <a:srgbClr val="EFF3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4599432" y="5577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耗时：30 秒</a:t>
            </a:r>
            <a:endParaRPr lang="en-US" sz="1200" dirty="0"/>
          </a:p>
        </p:txBody>
      </p:sp>
      <p:sp>
        <p:nvSpPr>
          <p:cNvPr id="57" name="Shape 53"/>
          <p:cNvSpPr/>
          <p:nvPr/>
        </p:nvSpPr>
        <p:spPr>
          <a:xfrm>
            <a:off x="8101584" y="201168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8" name="Shape 54"/>
          <p:cNvSpPr/>
          <p:nvPr/>
        </p:nvSpPr>
        <p:spPr>
          <a:xfrm>
            <a:off x="8101584" y="2011680"/>
            <a:ext cx="3657600" cy="9144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0890504" y="2194560"/>
            <a:ext cx="685800" cy="29260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10890504" y="21945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</a:t>
            </a:r>
            <a:endParaRPr lang="en-US" sz="1100" dirty="0"/>
          </a:p>
        </p:txBody>
      </p:sp>
      <p:pic>
        <p:nvPicPr>
          <p:cNvPr id="6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2194560"/>
            <a:ext cx="548640" cy="548640"/>
          </a:xfrm>
          <a:prstGeom prst="rect">
            <a:avLst/>
          </a:prstGeom>
        </p:spPr>
      </p:pic>
      <p:sp>
        <p:nvSpPr>
          <p:cNvPr id="62" name="Text 57"/>
          <p:cNvSpPr/>
          <p:nvPr/>
        </p:nvSpPr>
        <p:spPr>
          <a:xfrm>
            <a:off x="9061704" y="2176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数据维护补充</a:t>
            </a:r>
            <a:endParaRPr lang="en-US" sz="1800" dirty="0"/>
          </a:p>
        </p:txBody>
      </p:sp>
      <p:sp>
        <p:nvSpPr>
          <p:cNvPr id="63" name="Text 58"/>
          <p:cNvSpPr/>
          <p:nvPr/>
        </p:nvSpPr>
        <p:spPr>
          <a:xfrm>
            <a:off x="9061704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使用人：数据录入员 / 管理员</a:t>
            </a:r>
            <a:endParaRPr lang="en-US" sz="1100" dirty="0"/>
          </a:p>
        </p:txBody>
      </p:sp>
      <p:sp>
        <p:nvSpPr>
          <p:cNvPr id="64" name="Shape 59"/>
          <p:cNvSpPr/>
          <p:nvPr/>
        </p:nvSpPr>
        <p:spPr>
          <a:xfrm>
            <a:off x="8375904" y="3118104"/>
            <a:ext cx="228600" cy="2286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8375904" y="31181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66" name="Text 61"/>
          <p:cNvSpPr/>
          <p:nvPr/>
        </p:nvSpPr>
        <p:spPr>
          <a:xfrm>
            <a:off x="8695944" y="30815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收到新一批扫描件</a:t>
            </a:r>
            <a:endParaRPr lang="en-US" sz="1100" dirty="0"/>
          </a:p>
        </p:txBody>
      </p:sp>
      <p:sp>
        <p:nvSpPr>
          <p:cNvPr id="67" name="Shape 62"/>
          <p:cNvSpPr/>
          <p:nvPr/>
        </p:nvSpPr>
        <p:spPr>
          <a:xfrm>
            <a:off x="8375904" y="3502152"/>
            <a:ext cx="228600" cy="2286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8" name="Text 63"/>
          <p:cNvSpPr/>
          <p:nvPr/>
        </p:nvSpPr>
        <p:spPr>
          <a:xfrm>
            <a:off x="8375904" y="35021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69" name="Text 64"/>
          <p:cNvSpPr/>
          <p:nvPr/>
        </p:nvSpPr>
        <p:spPr>
          <a:xfrm>
            <a:off x="8695944" y="346557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批量上传到系统</a:t>
            </a:r>
            <a:endParaRPr lang="en-US" sz="1100" dirty="0"/>
          </a:p>
        </p:txBody>
      </p:sp>
      <p:sp>
        <p:nvSpPr>
          <p:cNvPr id="70" name="Shape 65"/>
          <p:cNvSpPr/>
          <p:nvPr/>
        </p:nvSpPr>
        <p:spPr>
          <a:xfrm>
            <a:off x="8375904" y="3886200"/>
            <a:ext cx="228600" cy="2286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8375904" y="3886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2" name="Text 67"/>
          <p:cNvSpPr/>
          <p:nvPr/>
        </p:nvSpPr>
        <p:spPr>
          <a:xfrm>
            <a:off x="8695944" y="384962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自动识别字段</a:t>
            </a:r>
            <a:endParaRPr lang="en-US" sz="1100" dirty="0"/>
          </a:p>
        </p:txBody>
      </p:sp>
      <p:sp>
        <p:nvSpPr>
          <p:cNvPr id="73" name="Shape 68"/>
          <p:cNvSpPr/>
          <p:nvPr/>
        </p:nvSpPr>
        <p:spPr>
          <a:xfrm>
            <a:off x="8375904" y="4270248"/>
            <a:ext cx="228600" cy="2286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74" name="Text 69"/>
          <p:cNvSpPr/>
          <p:nvPr/>
        </p:nvSpPr>
        <p:spPr>
          <a:xfrm>
            <a:off x="8375904" y="42702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75" name="Text 70"/>
          <p:cNvSpPr/>
          <p:nvPr/>
        </p:nvSpPr>
        <p:spPr>
          <a:xfrm>
            <a:off x="8695944" y="42336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复核黄色标记字段</a:t>
            </a:r>
            <a:endParaRPr lang="en-US" sz="1100" dirty="0"/>
          </a:p>
        </p:txBody>
      </p:sp>
      <p:sp>
        <p:nvSpPr>
          <p:cNvPr id="76" name="Shape 71"/>
          <p:cNvSpPr/>
          <p:nvPr/>
        </p:nvSpPr>
        <p:spPr>
          <a:xfrm>
            <a:off x="8375904" y="4654296"/>
            <a:ext cx="228600" cy="2286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77" name="Text 72"/>
          <p:cNvSpPr/>
          <p:nvPr/>
        </p:nvSpPr>
        <p:spPr>
          <a:xfrm>
            <a:off x="8375904" y="46542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8" name="Text 73"/>
          <p:cNvSpPr/>
          <p:nvPr/>
        </p:nvSpPr>
        <p:spPr>
          <a:xfrm>
            <a:off x="8695944" y="46177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确认入库</a:t>
            </a:r>
            <a:endParaRPr lang="en-US" sz="1100" dirty="0"/>
          </a:p>
        </p:txBody>
      </p:sp>
      <p:sp>
        <p:nvSpPr>
          <p:cNvPr id="79" name="Shape 74"/>
          <p:cNvSpPr/>
          <p:nvPr/>
        </p:nvSpPr>
        <p:spPr>
          <a:xfrm>
            <a:off x="8375904" y="5038344"/>
            <a:ext cx="228600" cy="2286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80" name="Text 75"/>
          <p:cNvSpPr/>
          <p:nvPr/>
        </p:nvSpPr>
        <p:spPr>
          <a:xfrm>
            <a:off x="8375904" y="50383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81" name="Text 76"/>
          <p:cNvSpPr/>
          <p:nvPr/>
        </p:nvSpPr>
        <p:spPr>
          <a:xfrm>
            <a:off x="8695944" y="500176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更新标准样板库</a:t>
            </a:r>
            <a:endParaRPr lang="en-US" sz="1100" dirty="0"/>
          </a:p>
        </p:txBody>
      </p:sp>
      <p:sp>
        <p:nvSpPr>
          <p:cNvPr id="82" name="Shape 77"/>
          <p:cNvSpPr/>
          <p:nvPr/>
        </p:nvSpPr>
        <p:spPr>
          <a:xfrm>
            <a:off x="8375904" y="5577840"/>
            <a:ext cx="3108960" cy="320040"/>
          </a:xfrm>
          <a:prstGeom prst="rect">
            <a:avLst/>
          </a:prstGeom>
          <a:solidFill>
            <a:srgbClr val="EFF3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3" name="Text 78"/>
          <p:cNvSpPr/>
          <p:nvPr/>
        </p:nvSpPr>
        <p:spPr>
          <a:xfrm>
            <a:off x="8375904" y="5577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耗时：按批次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业务流程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旗舰场景：招标比价全流程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以一次桥架材料招标为例，讲清楚招采工程师在系统里走的完整路径。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1945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2194560" cy="86868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042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录入投标信息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88720" y="3657600"/>
            <a:ext cx="914400" cy="0"/>
          </a:xfrm>
          <a:prstGeom prst="line">
            <a:avLst/>
          </a:prstGeom>
          <a:noFill/>
          <a:ln w="19050">
            <a:solidFill>
              <a:srgbClr val="0F30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9476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上传或手工录入各家供应商的报价单（含本体单价、盖板单价、执行标准等）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772" y="2560320"/>
            <a:ext cx="118872" cy="11887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871216" y="2194560"/>
            <a:ext cx="21945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71216" y="2194560"/>
            <a:ext cx="2194560" cy="86868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71216" y="23042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3054096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自动匹配历史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511296" y="3657600"/>
            <a:ext cx="914400" cy="0"/>
          </a:xfrm>
          <a:prstGeom prst="line">
            <a:avLst/>
          </a:prstGeom>
          <a:noFill/>
          <a:ln w="19050">
            <a:solidFill>
              <a:srgbClr val="00889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54096" y="379476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看懂同义写法（DN100 = 100mm = 4 寸），自动找出历史可比记录</a:t>
            </a:r>
            <a:endParaRPr lang="en-US" sz="11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348" y="2560320"/>
            <a:ext cx="118872" cy="118872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193792" y="2194560"/>
            <a:ext cx="21945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193792" y="2194560"/>
            <a:ext cx="2194560" cy="86868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193792" y="23042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400" dirty="0"/>
          </a:p>
        </p:txBody>
      </p:sp>
      <p:sp>
        <p:nvSpPr>
          <p:cNvPr id="23" name="Text 19"/>
          <p:cNvSpPr/>
          <p:nvPr/>
        </p:nvSpPr>
        <p:spPr>
          <a:xfrm>
            <a:off x="5376672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横向矩阵对比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5833872" y="3657600"/>
            <a:ext cx="914400" cy="0"/>
          </a:xfrm>
          <a:prstGeom prst="line">
            <a:avLst/>
          </a:prstGeom>
          <a:noFill/>
          <a:ln w="19050">
            <a:solidFill>
              <a:srgbClr val="00889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376672" y="379476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多家供应商 × 多项材料并列展示，最低价绿色高亮、未报价灰色</a:t>
            </a:r>
            <a:endParaRPr lang="en-US" sz="11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924" y="2560320"/>
            <a:ext cx="118872" cy="118872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7516368" y="2194560"/>
            <a:ext cx="21945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516368" y="2194560"/>
            <a:ext cx="2194560" cy="86868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516368" y="23042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400" dirty="0"/>
          </a:p>
        </p:txBody>
      </p:sp>
      <p:sp>
        <p:nvSpPr>
          <p:cNvPr id="30" name="Text 25"/>
          <p:cNvSpPr/>
          <p:nvPr/>
        </p:nvSpPr>
        <p:spPr>
          <a:xfrm>
            <a:off x="7699248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综合分析（DeepSeek）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8156448" y="3657600"/>
            <a:ext cx="914400" cy="0"/>
          </a:xfrm>
          <a:prstGeom prst="line">
            <a:avLst/>
          </a:prstGeom>
          <a:noFill/>
          <a:ln w="19050">
            <a:solidFill>
              <a:srgbClr val="E07B0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699248" y="379476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大模型综合考虑价格、执行标准、报价完整度，给出推荐供应商组合方案</a:t>
            </a:r>
            <a:endParaRPr lang="en-US" sz="11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560320"/>
            <a:ext cx="118872" cy="118872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9838944" y="2194560"/>
            <a:ext cx="21945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9838944" y="2194560"/>
            <a:ext cx="2194560" cy="8686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9838944" y="23042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4400" dirty="0"/>
          </a:p>
        </p:txBody>
      </p:sp>
      <p:sp>
        <p:nvSpPr>
          <p:cNvPr id="37" name="Text 31"/>
          <p:cNvSpPr/>
          <p:nvPr/>
        </p:nvSpPr>
        <p:spPr>
          <a:xfrm>
            <a:off x="10021824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导出比价报告</a:t>
            </a:r>
            <a:endParaRPr lang="en-US" sz="1500" dirty="0"/>
          </a:p>
        </p:txBody>
      </p:sp>
      <p:sp>
        <p:nvSpPr>
          <p:cNvPr id="38" name="Shape 32"/>
          <p:cNvSpPr/>
          <p:nvPr/>
        </p:nvSpPr>
        <p:spPr>
          <a:xfrm>
            <a:off x="10479024" y="3657600"/>
            <a:ext cx="914400" cy="0"/>
          </a:xfrm>
          <a:prstGeom prst="line">
            <a:avLst/>
          </a:prstGeom>
          <a:noFill/>
          <a:ln w="19050">
            <a:solidFill>
              <a:srgbClr val="10A37F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10021824" y="379476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 PDF / Excel 报告，发给领导决策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solidFill>
            <a:srgbClr val="08243F"/>
          </a:solidFill>
          <a:ln w="12700">
            <a:solidFill>
              <a:srgbClr val="08243F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548640" y="5440680"/>
            <a:ext cx="64008" cy="7772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77240" y="5440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整体耗时从过去的 30 分钟（人工 + 豆包）压缩至 5 分钟以内，且决策依据可追溯、可审计。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02920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FOUR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0" y="2377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功能设计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5029200" y="3337560"/>
            <a:ext cx="137160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系统提供哪些核心能力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功能设计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系统功能总览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围绕招采业务，系统由 4 个能力模块构成，覆盖从数据进入到智能分析的完整链路。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97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2697480" cy="132588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22860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8163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数据入库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361188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看懂扫描件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自动提取材料字段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对齐标准库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64992" y="2103120"/>
            <a:ext cx="2697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64992" y="2103120"/>
            <a:ext cx="2697480" cy="132588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47872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228600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93592" y="28163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数据管理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639312" y="361188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标准样板库维护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历史招采数据库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多维度查询筛选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81344" y="2103120"/>
            <a:ext cx="2697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81344" y="2103120"/>
            <a:ext cx="2697480" cy="132588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364224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4" y="228600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9944" y="28163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比价分析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455664" y="361188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多家投标横向对比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偏差预警标红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一键导出比价报告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997696" y="2103120"/>
            <a:ext cx="2697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997696" y="2103120"/>
            <a:ext cx="2697480" cy="132588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180576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2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7936" y="2286000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26296" y="28163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智能建议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9272016" y="361188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综合分析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推荐采购方案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风险点提示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数据流转：① 入库 → ② 管理 → ③ 分析 → ④ 建议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功能设计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在系统里具体做什么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3657600" cy="109728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205740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216712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486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帮你看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扫描件智能识别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1920240" y="4617720"/>
            <a:ext cx="914400" cy="0"/>
          </a:xfrm>
          <a:prstGeom prst="line">
            <a:avLst/>
          </a:prstGeom>
          <a:noFill/>
          <a:ln w="19050">
            <a:solidFill>
              <a:srgbClr val="0F30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4754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纸的招标资料 → 自动变电子表格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30 分钟手工录入 → 2 分钟搞定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你只复核 AI 标黄的不确定项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25112" y="182880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25112" y="1828800"/>
            <a:ext cx="3657600" cy="109728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33872" y="205740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172" y="2167128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25112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</a:t>
            </a:r>
            <a:endParaRPr lang="en-US" sz="4000" dirty="0"/>
          </a:p>
        </p:txBody>
      </p:sp>
      <p:sp>
        <p:nvSpPr>
          <p:cNvPr id="19" name="Text 15"/>
          <p:cNvSpPr/>
          <p:nvPr/>
        </p:nvSpPr>
        <p:spPr>
          <a:xfrm>
            <a:off x="4325112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帮你对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325112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标准库语义匹配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696712" y="4617720"/>
            <a:ext cx="914400" cy="0"/>
          </a:xfrm>
          <a:prstGeom prst="line">
            <a:avLst/>
          </a:prstGeom>
          <a:noFill/>
          <a:ln w="19050">
            <a:solidFill>
              <a:srgbClr val="00889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90872" y="4754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"DN100" "100mm" "4寸" → AI 知道是同一种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不用人工一行行整理对应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越用越准，确认一次下次自动套用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101584" y="182880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101584" y="1828800"/>
            <a:ext cx="3657600" cy="109728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610344" y="205740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4644" y="2167128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101584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</a:t>
            </a:r>
            <a:endParaRPr lang="en-US" sz="4000" dirty="0"/>
          </a:p>
        </p:txBody>
      </p:sp>
      <p:sp>
        <p:nvSpPr>
          <p:cNvPr id="28" name="Text 23"/>
          <p:cNvSpPr/>
          <p:nvPr/>
        </p:nvSpPr>
        <p:spPr>
          <a:xfrm>
            <a:off x="8101584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帮你判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101584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大模型分析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9473184" y="4617720"/>
            <a:ext cx="914400" cy="0"/>
          </a:xfrm>
          <a:prstGeom prst="line">
            <a:avLst/>
          </a:prstGeom>
          <a:noFill/>
          <a:ln w="19050">
            <a:solidFill>
              <a:srgbClr val="E07B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467344" y="4754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多家投标 → AI 推荐主供 + 风险提示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报价异常自动标红 + 解释原因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整体评估 + 推荐方案 + 风险提示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功能设计  ·  ① 数据入库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扫描件智能识别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把纸的招标资料 → AI 看一眼直接变成电子表格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PDF / JPG / PNG 批量拖拽上传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看一眼读懂材料名、规格、单价、供应商等字段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拿不准的字段标黄，你只复核黄色部分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确认入库 → 直接用于查询和比价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5943600" cy="1371600"/>
          </a:xfrm>
          <a:prstGeom prst="rect">
            <a:avLst/>
          </a:prstGeom>
          <a:solidFill>
            <a:srgbClr val="EFF3F8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754880"/>
            <a:ext cx="54864" cy="13716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8646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51663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一份扫描件录入：人工 30 分钟 → AI 辅助 2 分钟。AI 帮你做 95%，剩下 5% 不确定的标黄交给你最后核一眼。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1691640"/>
            <a:ext cx="4782312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828800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流程示意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0" y="2468880"/>
            <a:ext cx="502920" cy="50292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8096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上传扫描件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/ JPG / PNG 批量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92340" y="2971800"/>
            <a:ext cx="0" cy="301752"/>
          </a:xfrm>
          <a:prstGeom prst="line">
            <a:avLst/>
          </a:prstGeom>
          <a:noFill/>
          <a:ln w="19050">
            <a:solidFill>
              <a:srgbClr val="DCE3EC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040880" y="3410712"/>
            <a:ext cx="502920" cy="502920"/>
          </a:xfrm>
          <a:prstGeom prst="ellipse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80960" y="3364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看一眼读懂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80960" y="3730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提取关键字段成表格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92340" y="3913632"/>
            <a:ext cx="0" cy="301752"/>
          </a:xfrm>
          <a:prstGeom prst="line">
            <a:avLst/>
          </a:prstGeom>
          <a:noFill/>
          <a:ln w="19050">
            <a:solidFill>
              <a:srgbClr val="DCE3E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040880" y="4352544"/>
            <a:ext cx="502920" cy="50292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4352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80960" y="43068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人工复核黄色字段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80960" y="46725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重点检查不确定项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92340" y="4855464"/>
            <a:ext cx="0" cy="301752"/>
          </a:xfrm>
          <a:prstGeom prst="line">
            <a:avLst/>
          </a:prstGeom>
          <a:noFill/>
          <a:ln w="19050">
            <a:solidFill>
              <a:srgbClr val="DCE3EC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040880" y="5294376"/>
            <a:ext cx="502920" cy="502920"/>
          </a:xfrm>
          <a:prstGeom prst="ellipse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5294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80960" y="52486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确认入库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80960" y="56144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进入历史数据库可查可用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功能设计  ·  ② 数据管理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标准样板库与数据贯标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种写法 → AI 帮你认出是同一个东西 → 对齐到标准命名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举个实际例子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411480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97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DN100 无缝钢管 Q235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411480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46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无缝钢管 100mm 国标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411480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794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寸钢管 钢级 Q235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411480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343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Φ108 无缝钢管 国标</a:t>
            </a:r>
            <a:endParaRPr lang="en-US" sz="13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520440"/>
            <a:ext cx="457200" cy="457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486400" y="2743200"/>
            <a:ext cx="6126480" cy="219456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0" y="2880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标准样板库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69280" y="32461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DN100 无缝钢管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669280" y="38404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规格：Q235  ·  单位：米  ·  推荐品牌：鞍钢、宝钢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69280" y="41605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参考价格区间：60 – 90 元/米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0" y="4572000"/>
            <a:ext cx="1371600" cy="27432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已贯标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5212080"/>
            <a:ext cx="11091672" cy="914400"/>
          </a:xfrm>
          <a:prstGeom prst="rect">
            <a:avLst/>
          </a:prstGeom>
          <a:solidFill>
            <a:srgbClr val="EFF3F8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5212080"/>
            <a:ext cx="54864" cy="91440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5303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自动化能力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7724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看懂"DN100""100mm""4 寸""Φ108"是同一种钢管，自动归到标准命名。不确定的弹窗交你确认，确认一次下次自动套用——AI 越用越准。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功能设计  ·  ③ 比价分析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核心场景：多供应商横向对比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最常用、价值最大的功能：把 3-5 家供应商的报价一次性看清楚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7772400" cy="23774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材料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历史均价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供应商 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供应商 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供应商 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DN100 钢管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¥72.00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07B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¥78.00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07B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+8.3%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53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¥85.00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53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+18.1%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A3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¥70.00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A3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-2.8%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蝶阀 D71X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¥685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07B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¥720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07B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+5.1%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A3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¥685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A3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8A95A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未报价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PPR 给水管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¥12.79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B58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¥13.20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B58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+3.2%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8A95A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未报价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A3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¥11.80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A3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-7.7%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503920" y="2377440"/>
            <a:ext cx="3136392" cy="3931920"/>
          </a:xfrm>
          <a:prstGeom prst="rect">
            <a:avLst/>
          </a:prstGeom>
          <a:solidFill>
            <a:srgbClr val="08243F"/>
          </a:solidFill>
          <a:ln w="12700">
            <a:solidFill>
              <a:srgbClr val="08243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89936" y="2514600"/>
            <a:ext cx="300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b="1" kern="0" spc="3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智能分析</a:t>
            </a:r>
            <a:r>
              <a:rPr lang="en-US" sz="1400" b="1" kern="0" spc="300" dirty="0" err="1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建议（</a:t>
            </a:r>
            <a:r>
              <a:rPr lang="en-US" altLang="zh-CN" sz="1400" b="1" kern="0" spc="300" dirty="0" err="1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r>
              <a:rPr lang="en-US" sz="1400" b="1" kern="0" spc="300" dirty="0" err="1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</a:t>
            </a:r>
            <a:r>
              <a:rPr lang="en-US" sz="1400" b="1" kern="0" spc="3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0" y="2926080"/>
            <a:ext cx="2743200" cy="0"/>
          </a:xfrm>
          <a:prstGeom prst="line">
            <a:avLst/>
          </a:prstGeom>
          <a:noFill/>
          <a:ln w="12700">
            <a:solidFill>
              <a:srgbClr val="2A45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整体评估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0" y="3291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家投标价格分布合理，未发现异常低价或围标迹象。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推荐方案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86800" y="4297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以供应商 C 为主供（钢管 / PPR 管），蝶阀由 B 补足。预估总价较单一供应商方案节省约 8.3%。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0" y="5623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 B 的钢管报价偏高 18%，建议核查是否含特殊加工费用。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49377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此为简化示意。实际系统支持 3-5 家供应商投标、部分供应商缺项报价、AI 按总价 / 单项最优 / 历史合作综合评分。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功能设计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用户角色与权限设计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不同角色看到的菜单和能做的事不同，确保数据安全且操作清晰。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3657600" cy="109728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系统管理员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建账号、分角色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维护标准样板库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查看操作日志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系统配置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5112" y="219456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5112" y="2194560"/>
            <a:ext cx="3657600" cy="109728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数据录入员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99432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90872" y="34747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上传扫描件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 OCR 识别结果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确认数据入库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维护历史数据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01584" y="219456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01584" y="2194560"/>
            <a:ext cx="3657600" cy="109728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5904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查询分析用户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75904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67344" y="34747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查询历史数据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发起比价分析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 AI 建议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导出报告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所有用户操作均有日志记录，谁、何时、做了什么，均可追溯。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02920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FIVE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0" y="2377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原型演示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5029200" y="3337560"/>
            <a:ext cx="137160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看看实际界面长什么样、怎么用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原型演示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演示说明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接下来按 4 个区域演示。每个区域有 1-2 个实际界面，覆盖招采人员日常 80% 以上的工作。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1005840" cy="178308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03120"/>
            <a:ext cx="1005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737360" y="23317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288036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登录后第一眼看到的页面：本月比价数、偏差预警、历史趋势一目了然。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6208" y="2103120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36208" y="2103120"/>
            <a:ext cx="1005840" cy="178308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2103120"/>
            <a:ext cx="1005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424928" y="23317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比价分析（重点·双模式）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24928" y="288036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两个核心场景：①多供应商招标比价（横向矩阵）②单家询价分析（对比历史）。AI 都给综合建议。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069080"/>
            <a:ext cx="1005840" cy="178308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69080"/>
            <a:ext cx="1005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737360" y="42976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数据沉淀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37360" y="484632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标准样板库（命名规范）+ 历史数据库（12,847 条采购记录），是 AI 智能分析的底座。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36208" y="4069080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36208" y="4069080"/>
            <a:ext cx="1005840" cy="17830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4069080"/>
            <a:ext cx="1005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7424928" y="42976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扫描件 AI 识别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24928" y="484632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拖拽上传纸质资料 → AI 自动识字段 → 你只复核 AI 标黄的不确定项 → 入库。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080760"/>
            <a:ext cx="11091672" cy="411480"/>
          </a:xfrm>
          <a:prstGeom prst="rect">
            <a:avLst/>
          </a:prstGeom>
          <a:solidFill>
            <a:srgbClr val="EFF3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60807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演示数据来自您方提供的真实桥架招标记录，原型可在浏览器中实际操作。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原型演示  ·  ① 工作台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全局视图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6263640"/>
            <a:ext cx="11091672" cy="457200"/>
          </a:xfrm>
          <a:prstGeom prst="rect">
            <a:avLst/>
          </a:prstGeom>
          <a:solidFill>
            <a:srgbClr val="08243F"/>
          </a:solidFill>
          <a:ln w="12700">
            <a:solidFill>
              <a:srgbClr val="0824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6263640"/>
            <a:ext cx="54864" cy="4572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63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本月概览：12,847 条历史 · 156 次比价 · 23 项偏差预警 · 8 个专业完整覆盖。一打开系统，全公司的招采全貌一眼看清。</a:t>
            </a:r>
            <a:endParaRPr lang="en-US" sz="1300" dirty="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858" y="1554480"/>
            <a:ext cx="7858364" cy="4389120"/>
          </a:xfrm>
          <a:prstGeom prst="rect">
            <a:avLst/>
          </a:prstGeom>
          <a:ln w="6350">
            <a:solidFill>
              <a:srgbClr val="DCE3EC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原型演示  ·  ② 比价分析（多供应商）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多供应商比价 · 招标场景（核心场景）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5914153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场景：4 家投标、5 项材料 · 一次性看清谁报得低、谁报得不对劲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263640"/>
            <a:ext cx="11091672" cy="457200"/>
          </a:xfrm>
          <a:prstGeom prst="rect">
            <a:avLst/>
          </a:prstGeom>
          <a:solidFill>
            <a:srgbClr val="08243F"/>
          </a:solidFill>
          <a:ln w="12700">
            <a:solidFill>
              <a:srgbClr val="0824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6263640"/>
            <a:ext cx="54864" cy="4572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63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看点：横向矩阵（绿底=最低/灰底=未报价）→ 4 家供应商综合评分卡 → 底部 DeepSeek 给整体评估 + 推荐方案 + 风险提示，整体节省 8.3%。</a:t>
            </a:r>
            <a:endParaRPr lang="en-US" sz="1300" dirty="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255" y="1461025"/>
            <a:ext cx="5351057" cy="4389120"/>
          </a:xfrm>
          <a:prstGeom prst="rect">
            <a:avLst/>
          </a:prstGeom>
          <a:ln w="6350">
            <a:solidFill>
              <a:srgbClr val="DCE3EC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969578-A29E-C9FF-0889-D3E17CD3EC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345" t="8517"/>
          <a:stretch>
            <a:fillRect/>
          </a:stretch>
        </p:blipFill>
        <p:spPr>
          <a:xfrm>
            <a:off x="286986" y="1728014"/>
            <a:ext cx="5447655" cy="4058123"/>
          </a:xfrm>
          <a:prstGeom prst="rect">
            <a:avLst/>
          </a:prstGeom>
        </p:spPr>
      </p:pic>
      <p:sp>
        <p:nvSpPr>
          <p:cNvPr id="14" name="Arrow: Striped Right 13">
            <a:extLst>
              <a:ext uri="{FF2B5EF4-FFF2-40B4-BE49-F238E27FC236}">
                <a16:creationId xmlns:a16="http://schemas.microsoft.com/office/drawing/2014/main" id="{B25596AB-38BD-D90D-C66F-EC022776C59B}"/>
              </a:ext>
            </a:extLst>
          </p:cNvPr>
          <p:cNvSpPr/>
          <p:nvPr/>
        </p:nvSpPr>
        <p:spPr>
          <a:xfrm>
            <a:off x="5826472" y="3273629"/>
            <a:ext cx="343830" cy="542441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原型演示  ·  ③ 比价分析（单供应商）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单供应商分析 · 询价场景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90485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场景：单家来询价 · 用历史数据 + AI 判断价格是否合理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263640"/>
            <a:ext cx="11091672" cy="457200"/>
          </a:xfrm>
          <a:prstGeom prst="rect">
            <a:avLst/>
          </a:prstGeom>
          <a:solidFill>
            <a:srgbClr val="08243F"/>
          </a:solidFill>
          <a:ln w="12700">
            <a:solidFill>
              <a:srgbClr val="0824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6263640"/>
            <a:ext cx="54864" cy="4572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63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看点：每项材料独立分析卡 · 历史均值/中位数/最低/最高 一目了然 · 匹配 N 条历史记录 + 置信度 · 每项都有 DeepSeek 给的具体议价建议。</a:t>
            </a:r>
            <a:endParaRPr lang="en-US" sz="1300" dirty="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050" y="1336341"/>
            <a:ext cx="7499125" cy="4389120"/>
          </a:xfrm>
          <a:prstGeom prst="rect">
            <a:avLst/>
          </a:prstGeom>
          <a:ln w="6350">
            <a:solidFill>
              <a:srgbClr val="DCE3EC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原型演示  ·  ④ 标准样板库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机电材料的标准命名清单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0644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个专业 / 342 类 · 桥架类已展开示例（215 项，托盘式 62 项）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263640"/>
            <a:ext cx="11091672" cy="457200"/>
          </a:xfrm>
          <a:prstGeom prst="rect">
            <a:avLst/>
          </a:prstGeom>
          <a:solidFill>
            <a:srgbClr val="08243F"/>
          </a:solidFill>
          <a:ln w="12700">
            <a:solidFill>
              <a:srgbClr val="0824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6263640"/>
            <a:ext cx="54864" cy="4572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63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看点：左侧专业树（待补充的分类一目了然）· 右侧每个标准条目带规格 / 材质 / 板厚 / 推荐品牌 / 参考价格区间，让 AI 比价有"标准答案"可对照。</a:t>
            </a:r>
            <a:endParaRPr lang="en-US" sz="1300" dirty="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858" y="1531233"/>
            <a:ext cx="7858364" cy="4389120"/>
          </a:xfrm>
          <a:prstGeom prst="rect">
            <a:avLst/>
          </a:prstGeom>
          <a:ln w="6350">
            <a:solidFill>
              <a:srgbClr val="DCE3EC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原型演示  ·  ⑤ 历史数据库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组织级招采数据资产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5796211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12,847 条采购记录，覆盖 2019 年至今 · 全公司可查可用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263640"/>
            <a:ext cx="11091672" cy="457200"/>
          </a:xfrm>
          <a:prstGeom prst="rect">
            <a:avLst/>
          </a:prstGeom>
          <a:solidFill>
            <a:srgbClr val="08243F"/>
          </a:solidFill>
          <a:ln w="12700">
            <a:solidFill>
              <a:srgbClr val="0824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6263640"/>
            <a:ext cx="54864" cy="4572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63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看点：按专业 / 关键词 / 供应商 / 时间 / 价格区间多维筛选 · 每条记录可"查看"或"引用"到新一轮比价 · 这就是 AI 比价的"判断依据"。</a:t>
            </a:r>
            <a:endParaRPr lang="en-US" sz="1300" dirty="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104" y="1305422"/>
            <a:ext cx="6301785" cy="4389120"/>
          </a:xfrm>
          <a:prstGeom prst="rect">
            <a:avLst/>
          </a:prstGeom>
          <a:ln w="6350">
            <a:solidFill>
              <a:srgbClr val="DCE3EC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原型演示  ·  ⑥ 扫描件 AI 识别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拖一下，AI 帮你录入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0389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一次能传几十份 PDF/JPG/PNG，AI 自动跑识别，已入库/待审核/识别中状态实时可见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263640"/>
            <a:ext cx="11091672" cy="457200"/>
          </a:xfrm>
          <a:prstGeom prst="rect">
            <a:avLst/>
          </a:prstGeom>
          <a:solidFill>
            <a:srgbClr val="08243F"/>
          </a:solidFill>
          <a:ln w="12700">
            <a:solidFill>
              <a:srgbClr val="0824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6263640"/>
            <a:ext cx="54864" cy="4572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63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看点：处理队列实时状态 · 已入库/待审核分色 · AI 不确定的字段标黄交给你复核 · 不用人工敲字。</a:t>
            </a:r>
            <a:endParaRPr lang="en-US" sz="1300" dirty="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450" y="1458468"/>
            <a:ext cx="7704580" cy="4389120"/>
          </a:xfrm>
          <a:prstGeom prst="rect">
            <a:avLst/>
          </a:prstGeom>
          <a:ln w="6350">
            <a:solidFill>
              <a:srgbClr val="DCE3EC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原型演示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演示小结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以上演示展示了系统的核心能力。原型已可在浏览器中实际操作，您可以亲自试用。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3657600" cy="109728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33172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0" y="2441448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个真实页面演示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1920240" y="3931920"/>
            <a:ext cx="914400" cy="0"/>
          </a:xfrm>
          <a:prstGeom prst="line">
            <a:avLst/>
          </a:prstGeom>
          <a:noFill/>
          <a:ln w="19050">
            <a:solidFill>
              <a:srgbClr val="0F30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0690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从工作台、双模式比价、标准库、历史库、扫描件录入——AI 在每一步具体做什么，眼见为实。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25112" y="210312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25112" y="2103120"/>
            <a:ext cx="3657600" cy="109728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33872" y="233172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172" y="2441448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99432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建议是真的在跑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696712" y="3931920"/>
            <a:ext cx="914400" cy="0"/>
          </a:xfrm>
          <a:prstGeom prst="line">
            <a:avLst/>
          </a:prstGeom>
          <a:noFill/>
          <a:ln w="19050">
            <a:solidFill>
              <a:srgbClr val="E07B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99432" y="40690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比价场景里"AI 综合分析建议"由 DeepSeek 大模型实时生成（不是预设模板），点重新分析能看到不同结果。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101584" y="210312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01584" y="2103120"/>
            <a:ext cx="3657600" cy="109728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610344" y="233172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4644" y="2441448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75904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可在浏览器直接打开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9473184" y="3931920"/>
            <a:ext cx="914400" cy="0"/>
          </a:xfrm>
          <a:prstGeom prst="line">
            <a:avLst/>
          </a:prstGeom>
          <a:noFill/>
          <a:ln w="19050">
            <a:solidFill>
              <a:srgbClr val="008891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375904" y="40690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提供独立 HTML 文件，可发到您方电脑或部署到内网链接，无需任何安装步骤。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solidFill>
            <a:srgbClr val="EFF3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77240" y="6080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看完原型如有调整意见欢迎随时提出，正式开发前的反馈是最有价值的。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02920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SIX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0" y="2377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实施计划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5029200" y="3337560"/>
            <a:ext cx="137160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双方各做什么 · 时间节点 · 交付物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实施计划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双方分工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项目能不能按时上线，一半看开发方、一半看业务方提供数据的及时性。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4068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30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5440680" cy="59436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乙方（开发方）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2926080"/>
            <a:ext cx="274320" cy="27432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2862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需求确认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862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再次梳理细节、画原型给您看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474720"/>
            <a:ext cx="274320" cy="27432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3410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系统研发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3410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网页界面、数据库、AI 集成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023360"/>
            <a:ext cx="274320" cy="27432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3959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06040" y="3959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您提供数据，我导入 + 贯标 + 入库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572000"/>
            <a:ext cx="274320" cy="27432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4507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上线部署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06040" y="4507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云端配置、域名、SSL 证书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5120640"/>
            <a:ext cx="274320" cy="27432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5056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培训交付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06040" y="5056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次远程培训 + 使用手册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" y="5669280"/>
            <a:ext cx="274320" cy="27432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669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3000" y="5605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售后维护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06040" y="5605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交付后 3 个月免费维护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99632" y="2103120"/>
            <a:ext cx="544068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B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99632" y="2103120"/>
            <a:ext cx="5440680" cy="59436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210312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甲方（业务方）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428232" y="2926080"/>
            <a:ext cx="274320" cy="27432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93992" y="2862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提供标准清单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94192" y="2862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现有招标用的那份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28232" y="3474720"/>
            <a:ext cx="274320" cy="27432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28232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93992" y="3410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提供历史扫描件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94192" y="3410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数量按双方约定上限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28232" y="4023360"/>
            <a:ext cx="274320" cy="27432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8232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93992" y="3959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提供比价样例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394192" y="3959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份，参考输出格式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28232" y="4572000"/>
            <a:ext cx="274320" cy="27432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28232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93992" y="4507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关键节点确认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394192" y="4507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需求、原型、验收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28232" y="5120640"/>
            <a:ext cx="274320" cy="27432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28232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793992" y="5056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安排试用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394192" y="5056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2-3 名一线人员测试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428232" y="5669280"/>
            <a:ext cx="274320" cy="27432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28232" y="5669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793992" y="5605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承担运行费用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394192" y="5605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云服务、域名、AI 调用费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实施计划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项目时间线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总周期约 4 周，分为 4 个阶段。系统研发与数据导入并行推进。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2103120"/>
            <a:ext cx="1728216" cy="365760"/>
          </a:xfrm>
          <a:prstGeom prst="rect">
            <a:avLst/>
          </a:prstGeom>
          <a:solidFill>
            <a:srgbClr val="EFF3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210312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74920" y="2103120"/>
            <a:ext cx="1728216" cy="365760"/>
          </a:xfrm>
          <a:prstGeom prst="rect">
            <a:avLst/>
          </a:prstGeom>
          <a:solidFill>
            <a:srgbClr val="EFF3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210312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2103120"/>
            <a:ext cx="1728216" cy="365760"/>
          </a:xfrm>
          <a:prstGeom prst="rect">
            <a:avLst/>
          </a:prstGeom>
          <a:solidFill>
            <a:srgbClr val="EFF3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210312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41080" y="2103120"/>
            <a:ext cx="1728216" cy="365760"/>
          </a:xfrm>
          <a:prstGeom prst="rect">
            <a:avLst/>
          </a:prstGeom>
          <a:solidFill>
            <a:srgbClr val="EFF3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210312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需求确认 / 原型确认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2606040"/>
            <a:ext cx="7077456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2660904"/>
            <a:ext cx="1691640" cy="301752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69880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乙方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090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系统研发（前后端 / 数据库 / AI）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090672"/>
            <a:ext cx="7077456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9100" y="3145536"/>
            <a:ext cx="4009644" cy="301752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69880" y="30906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乙方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57530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标准清单导入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3575304"/>
            <a:ext cx="7077456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3630168"/>
            <a:ext cx="1156716" cy="30175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69880" y="357530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甲方提供 + 乙方导入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05993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历史扫描件 OCR + 数据贯标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4059936"/>
            <a:ext cx="7077456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55564" y="4114800"/>
            <a:ext cx="2939796" cy="30175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69880" y="40599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甲方提供 + 乙方处理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5445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联调测试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91840" y="4544568"/>
            <a:ext cx="7077456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95260" y="4599432"/>
            <a:ext cx="1513332" cy="301752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69880" y="4544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5029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用户试用 + 培训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1840" y="5029200"/>
            <a:ext cx="7077456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0" y="5084064"/>
            <a:ext cx="1067562" cy="30175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69880" y="5029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55138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上线交付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91840" y="5513832"/>
            <a:ext cx="7077456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56648" y="5568696"/>
            <a:ext cx="532638" cy="30175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469880" y="55138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乙方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6035040"/>
            <a:ext cx="228600" cy="164592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5989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系统研发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834640" y="6035040"/>
            <a:ext cx="228600" cy="16459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54680" y="5989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数据导入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120640" y="6035040"/>
            <a:ext cx="228600" cy="164592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40680" y="5989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需求/联调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06640" y="6035040"/>
            <a:ext cx="228600" cy="16459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26680" y="5989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交付/培训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实施计划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数据导入说明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数据导入分两条线并行：标准清单先建好，历史数据陆续补充。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406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5440680" cy="82296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860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2402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 标准样板库导入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71600" y="26060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项目第 1 周完成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甲方提供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33832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现有招标用的标准清单文件（一份示例即可，无需整理）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乙方处理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429768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梳理字段结构（名称 / 规格 / 单位 / 推荐品牌）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按专业分类（给排水 / 电气 / 暖通 / 消防）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录入系统并完成首版校对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向量化处理，为后续语义匹配做准备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99632" y="2103120"/>
            <a:ext cx="54406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9632" y="2103120"/>
            <a:ext cx="5440680" cy="82296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28600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22592" y="22402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 历史招采数据导入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7022592" y="26060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项目第 2-3 周完成（与系统研发并行）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28232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甲方提供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428232" y="3383280"/>
            <a:ext cx="5093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过去一年的招标扫描件（PDF</a:t>
            </a: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en-US" sz="1300" dirty="0" err="1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图片格式即可，数量按双方约定上限</a:t>
            </a: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428232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乙方处理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428232" y="429768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 识别扫描件，提取材料字段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对齐到标准样板库（数据贯标）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识别置信度低的字段标黄，与甲方对接复核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确认无误后批量入库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实施计划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交付物清单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项目结束时，您将获得以下成果：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1188720" cy="118872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688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2402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套上线运行的网页系统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920240" y="26974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打开浏览器即可使用，已完成云端部署、账号开通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36208" y="210312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36208" y="2103120"/>
            <a:ext cx="1188720" cy="118872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4688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07808" y="22402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个含历史数据的数据库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607808" y="26974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您提供的历史招采资料已 OCR 入库、完成贯标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47472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3474720"/>
            <a:ext cx="1188720" cy="118872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404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20240" y="36118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套机电材料标准样板库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920240" y="40690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按专业分类的标准命名清单，可后续维护扩展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36208" y="347472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36208" y="3474720"/>
            <a:ext cx="1188720" cy="118872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384048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07808" y="36118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套完整的项目文档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607808" y="40690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用户手册、管理员手册、项目总结报告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8640" y="484632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48640" y="4846320"/>
            <a:ext cx="1188720" cy="118872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212080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920240" y="49834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次远程系统培训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1920240" y="54406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 小时，覆盖所有功能模块的使用方法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236208" y="484632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36208" y="4846320"/>
            <a:ext cx="1188720" cy="118872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1968" y="5212080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607808" y="49834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个月免费维护期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7607808" y="54406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 bug 修复、故障处理、使用咨询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137160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108960"/>
            <a:ext cx="2697480" cy="2011680"/>
          </a:xfrm>
          <a:prstGeom prst="rect">
            <a:avLst/>
          </a:prstGeom>
          <a:solidFill>
            <a:srgbClr val="1A446F"/>
          </a:solidFill>
          <a:ln w="12700">
            <a:solidFill>
              <a:srgbClr val="2A45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383280"/>
            <a:ext cx="548640" cy="54864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4069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4434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您方反馈本说明的修改意见和补充信息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3108960"/>
            <a:ext cx="2697480" cy="2011680"/>
          </a:xfrm>
          <a:prstGeom prst="rect">
            <a:avLst/>
          </a:prstGeom>
          <a:solidFill>
            <a:srgbClr val="1A446F"/>
          </a:solidFill>
          <a:ln w="12700">
            <a:solidFill>
              <a:srgbClr val="2A45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3383280"/>
            <a:ext cx="548640" cy="54864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86200" y="4069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86200" y="4434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我方根据反馈调整说明书 V2 版本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3108960"/>
            <a:ext cx="2697480" cy="2011680"/>
          </a:xfrm>
          <a:prstGeom prst="rect">
            <a:avLst/>
          </a:prstGeom>
          <a:solidFill>
            <a:srgbClr val="1A446F"/>
          </a:solidFill>
          <a:ln w="12700">
            <a:solidFill>
              <a:srgbClr val="2A45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3383280"/>
            <a:ext cx="548640" cy="54864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20840" y="4069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第二周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4434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正式立项，开始需求详细确认与原型设计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281160" y="3108960"/>
            <a:ext cx="2697480" cy="2011680"/>
          </a:xfrm>
          <a:prstGeom prst="rect">
            <a:avLst/>
          </a:prstGeom>
          <a:solidFill>
            <a:srgbClr val="1A446F"/>
          </a:solidFill>
          <a:ln w="12700">
            <a:solidFill>
              <a:srgbClr val="2A45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3383280"/>
            <a:ext cx="548640" cy="54864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5548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555480" y="4069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第六周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55480" y="4434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系统上线，完成交付与培训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5943600"/>
            <a:ext cx="10607040" cy="0"/>
          </a:xfrm>
          <a:prstGeom prst="line">
            <a:avLst/>
          </a:prstGeom>
          <a:noFill/>
          <a:ln w="12700">
            <a:solidFill>
              <a:srgbClr val="2A45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6080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汇报人：杨科  ·  联系方式以程序员客栈平台为准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027BD07-8EDC-4F17-BCBC-7FDEEB802E0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2713ce92-f1d9-4fc9-bf7a-79b0aee5ed3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1654</Words>
  <Application>Microsoft Office PowerPoint</Application>
  <PresentationFormat>Widescreen</PresentationFormat>
  <Paragraphs>546</Paragraphs>
  <Slides>34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Microsoft YaHei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机电材料查询比价分析系统 项目说明</dc:title>
  <dc:subject>PptxGenJS Presentation</dc:subject>
  <dc:creator>杨科</dc:creator>
  <cp:lastModifiedBy>KE YANG</cp:lastModifiedBy>
  <cp:revision>23</cp:revision>
  <dcterms:created xsi:type="dcterms:W3CDTF">2026-04-27T00:24:08Z</dcterms:created>
  <dcterms:modified xsi:type="dcterms:W3CDTF">2026-07-10T02:35:14Z</dcterms:modified>
</cp:coreProperties>
</file>